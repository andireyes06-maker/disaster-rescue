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guide uses current Flutter Chrome captures and one identified widget notification fixture, with fictional accounts. Debug ribbons are retained. Some Chrome captures hide only the SDK warning to show the navigation dock; product source does not hide it. This is not a physical-device or signed-release certification. A report does not guarantee immediate rescue.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supplied general brief requires web and mobile, not every staff workspace duplicated natively. Preserve resident/responder mobile scope. Route permissions remain authoritative. Admin is not API-only.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actual welcome actions. Its service labels describe the workflow, not live incidents. Required account fields show asterisks. Do not show real passwords in a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delivery requires configured Cloudinary. Do not present mock coverage as real provider evidence. A failed location permission leaves manual map selection available. The screenshot shows an unselected location and disabled Next with an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storage-failure notices. Do not promise retry protection survives every restart. Native responder attempts remain in memory and are cleared on access/identity loss. Five unresolved payloads are retained per report; the sixth is blocked. Discard is explicit and removes protection.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current native widget-rendered notification fixture, not physical-device evidence or proof of push delivery. The in-app feed and unread treatment are real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Recently closed is read-only. A notification alone grants no access. Team and account permissions are checked by server and Firestore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People rescued and Status are marked required. The running-app record and retry tests cover local saves and history. The submission rehearsal is recorded separately. The screenshot is before submission. Avoid a new key when the outcome is uncertain.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image is responder report detail with progress history, not the resident My Reports list. The screenshot shows the history empty state; the bounded populated/paging behavior is covered by tests and the submission rehearsal. No real rescue count is claimed. An offline page cannot discover remote revocation instantly.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current deployment addresses from HANDOFF. Demonstrate real permitted actions only in isolated test data. DMO has no operational mutation controls. Admin has a real /admin screen. Current routes are documented in outline.md and web/src/App.tsx.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 schema.md for reports, updates, users, teams, notifications, audits and server-only recovery ledgers. The diagram abstracts authenticated reads. API Admin SDK owns operational writes; direct client Firestore writes are denied. Do not describe Firestore as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preview is not the final group video. Native permissions, push delivery, restart, TalkBack/VoiceOver and signed iOS/Android releases remain distinct gates. Use current dated test counts from the finish record. Do not invent members, official authority or policy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6FA"/>
        </a:solidFill>
      </p:bgPr>
    </p:bg>
    <p:spTree>
      <p:nvGrpSpPr>
        <p:cNvPr id="1" name=""/>
        <p:cNvGrpSpPr/>
        <p:nvPr/>
      </p:nvGrpSpPr>
      <p:grpSpPr>
        <a:xfrm>
          <a:off x="0" y="0"/>
          <a:ext cx="0" cy="0"/>
          <a:chOff x="0" y="0"/>
          <a:chExt cx="0" cy="0"/>
        </a:xfrm>
      </p:grpSpPr>
      <p:sp>
        <p:nvSpPr>
          <p:cNvPr id="2" name="Text 0"/>
          <p:cNvSpPr/>
          <p:nvPr/>
        </p:nvSpPr>
        <p:spPr>
          <a:xfrm>
            <a:off x="594360" y="320040"/>
            <a:ext cx="8229600" cy="274320"/>
          </a:xfrm>
          <a:prstGeom prst="rect">
            <a:avLst/>
          </a:prstGeom>
          <a:noFill/>
          <a:ln/>
        </p:spPr>
        <p:txBody>
          <a:bodyPr wrap="square" lIns="0" tIns="0" rIns="0" bIns="0" rtlCol="0" anchor="ctr"/>
          <a:lstStyle/>
          <a:p>
            <a:pPr indent="0" marL="0">
              <a:buNone/>
            </a:pPr>
            <a:r>
              <a:rPr lang="en-US" sz="1300" b="1" dirty="0">
                <a:solidFill>
                  <a:srgbClr val="6D28D9"/>
                </a:solidFill>
                <a:latin typeface="Arial" pitchFamily="34" charset="0"/>
                <a:ea typeface="Arial" pitchFamily="34" charset="-122"/>
                <a:cs typeface="Arial" pitchFamily="34" charset="-120"/>
              </a:rPr>
              <a:t>Rescue Reports</a:t>
            </a:r>
            <a:endParaRPr lang="en-US" sz="1300" dirty="0"/>
          </a:p>
        </p:txBody>
      </p:sp>
      <p:sp>
        <p:nvSpPr>
          <p:cNvPr id="3" name="Text 1"/>
          <p:cNvSpPr/>
          <p:nvPr/>
        </p:nvSpPr>
        <p:spPr>
          <a:xfrm>
            <a:off x="10972800" y="320040"/>
            <a:ext cx="594360" cy="274320"/>
          </a:xfrm>
          <a:prstGeom prst="rect">
            <a:avLst/>
          </a:prstGeom>
          <a:noFill/>
          <a:ln/>
        </p:spPr>
        <p:txBody>
          <a:bodyPr wrap="square" lIns="0" tIns="0" rIns="0" bIns="0" rtlCol="0" anchor="ctr"/>
          <a:lstStyle/>
          <a:p>
            <a:pPr indent="0" marL="0">
              <a:buNone/>
            </a:pPr>
            <a:r>
              <a:rPr lang="en-US" sz="1200" dirty="0">
                <a:solidFill>
                  <a:srgbClr val="625E73"/>
                </a:solidFill>
                <a:latin typeface="Arial" pitchFamily="34" charset="0"/>
                <a:ea typeface="Arial" pitchFamily="34" charset="-122"/>
                <a:cs typeface="Arial" pitchFamily="34" charset="-120"/>
              </a:rPr>
              <a:t>01</a:t>
            </a:r>
            <a:endParaRPr lang="en-US" sz="1200" dirty="0"/>
          </a:p>
        </p:txBody>
      </p:sp>
      <p:sp>
        <p:nvSpPr>
          <p:cNvPr id="4" name="Text 2"/>
          <p:cNvSpPr/>
          <p:nvPr/>
        </p:nvSpPr>
        <p:spPr>
          <a:xfrm>
            <a:off x="594360" y="868680"/>
            <a:ext cx="10972800" cy="1051560"/>
          </a:xfrm>
          <a:prstGeom prst="rect">
            <a:avLst/>
          </a:prstGeom>
          <a:noFill/>
          <a:ln/>
        </p:spPr>
        <p:txBody>
          <a:bodyPr wrap="square" lIns="0" tIns="0" rIns="0" bIns="0" rtlCol="0" anchor="ctr"/>
          <a:lstStyle/>
          <a:p>
            <a:pPr indent="0" marL="0">
              <a:buNone/>
            </a:pPr>
            <a:r>
              <a:rPr lang="en-US" sz="3600" b="1" dirty="0">
                <a:solidFill>
                  <a:srgbClr val="211D35"/>
                </a:solidFill>
                <a:latin typeface="Arial" pitchFamily="34" charset="0"/>
                <a:ea typeface="Arial" pitchFamily="34" charset="-122"/>
                <a:cs typeface="Arial" pitchFamily="34" charset="-120"/>
              </a:rPr>
              <a:t>Report clearly.</a:t>
            </a:r>
            <a:endParaRPr lang="en-US" sz="3600" dirty="0"/>
          </a:p>
          <a:p>
            <a:pPr indent="0" marL="0">
              <a:buNone/>
            </a:pPr>
            <a:r>
              <a:rPr lang="en-US" sz="3600" b="1" dirty="0">
                <a:solidFill>
                  <a:srgbClr val="211D35"/>
                </a:solidFill>
                <a:latin typeface="Arial" pitchFamily="34" charset="0"/>
                <a:ea typeface="Arial" pitchFamily="34" charset="-122"/>
                <a:cs typeface="Arial" pitchFamily="34" charset="-120"/>
              </a:rPr>
              <a:t>Respond together.</a:t>
            </a:r>
            <a:endParaRPr lang="en-US" sz="3600" dirty="0"/>
          </a:p>
        </p:txBody>
      </p:sp>
      <p:sp>
        <p:nvSpPr>
          <p:cNvPr id="5" name="Text 3"/>
          <p:cNvSpPr/>
          <p:nvPr/>
        </p:nvSpPr>
        <p:spPr>
          <a:xfrm>
            <a:off x="594360" y="1874520"/>
            <a:ext cx="10881360" cy="594360"/>
          </a:xfrm>
          <a:prstGeom prst="rect">
            <a:avLst/>
          </a:prstGeom>
          <a:noFill/>
          <a:ln/>
        </p:spPr>
        <p:txBody>
          <a:bodyPr wrap="square" lIns="0" tIns="0" rIns="0" bIns="0" rtlCol="0" anchor="ctr"/>
          <a:lstStyle/>
          <a:p>
            <a:pPr indent="0" marL="0">
              <a:buNone/>
            </a:pPr>
            <a:r>
              <a:rPr lang="en-US" sz="1600" dirty="0">
                <a:solidFill>
                  <a:srgbClr val="625E73"/>
                </a:solidFill>
                <a:latin typeface="Arial" pitchFamily="34" charset="0"/>
                <a:ea typeface="Arial" pitchFamily="34" charset="-122"/>
                <a:cs typeface="Arial" pitchFamily="34" charset="-120"/>
              </a:rPr>
              <a:t>User guide · web and mobile · 20 October 2026</a:t>
            </a:r>
            <a:endParaRPr lang="en-US" sz="1600" dirty="0"/>
          </a:p>
        </p:txBody>
      </p:sp>
      <p:sp>
        <p:nvSpPr>
          <p:cNvPr id="6" name="Shape 4"/>
          <p:cNvSpPr/>
          <p:nvPr/>
        </p:nvSpPr>
        <p:spPr>
          <a:xfrm>
            <a:off x="594360" y="2834640"/>
            <a:ext cx="6217920" cy="2194560"/>
          </a:xfrm>
          <a:prstGeom prst="roundRect">
            <a:avLst>
              <a:gd name="adj" fmla="val 6250"/>
            </a:avLst>
          </a:prstGeom>
          <a:solidFill>
            <a:srgbClr val="241747"/>
          </a:solidFill>
          <a:ln w="12700">
            <a:solidFill>
              <a:srgbClr val="241747"/>
            </a:solidFill>
            <a:prstDash val="solid"/>
          </a:ln>
        </p:spPr>
      </p:sp>
      <p:sp>
        <p:nvSpPr>
          <p:cNvPr id="7" name="Text 5"/>
          <p:cNvSpPr/>
          <p:nvPr/>
        </p:nvSpPr>
        <p:spPr>
          <a:xfrm>
            <a:off x="914400" y="3154680"/>
            <a:ext cx="5394960" cy="137160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A clear report.</a:t>
            </a:r>
            <a:endParaRPr lang="en-US" sz="2800" dirty="0"/>
          </a:p>
          <a:p>
            <a:pPr indent="0" marL="0">
              <a:buNone/>
            </a:pPr>
            <a:r>
              <a:rPr lang="en-US" sz="2800" b="1" dirty="0">
                <a:solidFill>
                  <a:srgbClr val="FFFFFF"/>
                </a:solidFill>
                <a:latin typeface="Arial" pitchFamily="34" charset="0"/>
                <a:ea typeface="Arial" pitchFamily="34" charset="-122"/>
                <a:cs typeface="Arial" pitchFamily="34" charset="-120"/>
              </a:rPr>
              <a:t>A connected response.</a:t>
            </a:r>
            <a:endParaRPr lang="en-US" sz="2800" dirty="0"/>
          </a:p>
        </p:txBody>
      </p:sp>
      <p:pic>
        <p:nvPicPr>
          <p:cNvPr id="8" name="Image 0" descr="/private/tmp/rescue-release-integration-2026-10-18/docs/user-guide/images/welcome-390-r2.png">    </p:cNvPr>
          <p:cNvPicPr>
            <a:picLocks noChangeAspect="1"/>
          </p:cNvPicPr>
          <p:nvPr/>
        </p:nvPicPr>
        <p:blipFill>
          <a:blip r:embed="rId1"/>
          <a:stretch>
            <a:fillRect/>
          </a:stretch>
        </p:blipFill>
        <p:spPr>
          <a:xfrm>
            <a:off x="8503920" y="1463040"/>
            <a:ext cx="2148840" cy="464515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A"/>
        </a:solidFill>
      </p:bgPr>
    </p:bg>
    <p:spTree>
      <p:nvGrpSpPr>
        <p:cNvPr id="1" name=""/>
        <p:cNvGrpSpPr/>
        <p:nvPr/>
      </p:nvGrpSpPr>
      <p:grpSpPr>
        <a:xfrm>
          <a:off x="0" y="0"/>
          <a:ext cx="0" cy="0"/>
          <a:chOff x="0" y="0"/>
          <a:chExt cx="0" cy="0"/>
        </a:xfrm>
      </p:grpSpPr>
      <p:sp>
        <p:nvSpPr>
          <p:cNvPr id="2" name="Text 0"/>
          <p:cNvSpPr/>
          <p:nvPr/>
        </p:nvSpPr>
        <p:spPr>
          <a:xfrm>
            <a:off x="594360" y="320040"/>
            <a:ext cx="8229600" cy="274320"/>
          </a:xfrm>
          <a:prstGeom prst="rect">
            <a:avLst/>
          </a:prstGeom>
          <a:noFill/>
          <a:ln/>
        </p:spPr>
        <p:txBody>
          <a:bodyPr wrap="square" lIns="0" tIns="0" rIns="0" bIns="0" rtlCol="0" anchor="ctr"/>
          <a:lstStyle/>
          <a:p>
            <a:pPr indent="0" marL="0">
              <a:buNone/>
            </a:pPr>
            <a:r>
              <a:rPr lang="en-US" sz="1300" b="1" dirty="0">
                <a:solidFill>
                  <a:srgbClr val="6D28D9"/>
                </a:solidFill>
                <a:latin typeface="Arial" pitchFamily="34" charset="0"/>
                <a:ea typeface="Arial" pitchFamily="34" charset="-122"/>
                <a:cs typeface="Arial" pitchFamily="34" charset="-120"/>
              </a:rPr>
              <a:t>Rescue Reports</a:t>
            </a:r>
            <a:endParaRPr lang="en-US" sz="1300" dirty="0"/>
          </a:p>
        </p:txBody>
      </p:sp>
      <p:sp>
        <p:nvSpPr>
          <p:cNvPr id="3" name="Text 1"/>
          <p:cNvSpPr/>
          <p:nvPr/>
        </p:nvSpPr>
        <p:spPr>
          <a:xfrm>
            <a:off x="10972800" y="320040"/>
            <a:ext cx="594360" cy="274320"/>
          </a:xfrm>
          <a:prstGeom prst="rect">
            <a:avLst/>
          </a:prstGeom>
          <a:noFill/>
          <a:ln/>
        </p:spPr>
        <p:txBody>
          <a:bodyPr wrap="square" lIns="0" tIns="0" rIns="0" bIns="0" rtlCol="0" anchor="ctr"/>
          <a:lstStyle/>
          <a:p>
            <a:pPr indent="0" marL="0">
              <a:buNone/>
            </a:pPr>
            <a:r>
              <a:rPr lang="en-US" sz="1200" dirty="0">
                <a:solidFill>
                  <a:srgbClr val="625E73"/>
                </a:solidFill>
                <a:latin typeface="Arial" pitchFamily="34" charset="0"/>
                <a:ea typeface="Arial" pitchFamily="34" charset="-122"/>
                <a:cs typeface="Arial" pitchFamily="34" charset="-120"/>
              </a:rPr>
              <a:t>02</a:t>
            </a:r>
            <a:endParaRPr lang="en-US" sz="1200" dirty="0"/>
          </a:p>
        </p:txBody>
      </p:sp>
      <p:sp>
        <p:nvSpPr>
          <p:cNvPr id="4" name="Text 2"/>
          <p:cNvSpPr/>
          <p:nvPr/>
        </p:nvSpPr>
        <p:spPr>
          <a:xfrm>
            <a:off x="594360" y="868680"/>
            <a:ext cx="10972800" cy="1051560"/>
          </a:xfrm>
          <a:prstGeom prst="rect">
            <a:avLst/>
          </a:prstGeom>
          <a:noFill/>
          <a:ln/>
        </p:spPr>
        <p:txBody>
          <a:bodyPr wrap="square" lIns="0" tIns="0" rIns="0" bIns="0" rtlCol="0" anchor="ctr"/>
          <a:lstStyle/>
          <a:p>
            <a:pPr indent="0" marL="0">
              <a:buNone/>
            </a:pPr>
            <a:r>
              <a:rPr lang="en-US" sz="3600" b="1" dirty="0">
                <a:solidFill>
                  <a:srgbClr val="211D35"/>
                </a:solidFill>
                <a:latin typeface="Arial" pitchFamily="34" charset="0"/>
                <a:ea typeface="Arial" pitchFamily="34" charset="-122"/>
                <a:cs typeface="Arial" pitchFamily="34" charset="-120"/>
              </a:rPr>
              <a:t>Choose your workspace</a:t>
            </a:r>
            <a:endParaRPr lang="en-US" sz="3600" dirty="0"/>
          </a:p>
        </p:txBody>
      </p:sp>
      <p:sp>
        <p:nvSpPr>
          <p:cNvPr id="5" name="Text 3"/>
          <p:cNvSpPr/>
          <p:nvPr/>
        </p:nvSpPr>
        <p:spPr>
          <a:xfrm>
            <a:off x="594360" y="1874520"/>
            <a:ext cx="10881360" cy="594360"/>
          </a:xfrm>
          <a:prstGeom prst="rect">
            <a:avLst/>
          </a:prstGeom>
          <a:noFill/>
          <a:ln/>
        </p:spPr>
        <p:txBody>
          <a:bodyPr wrap="square" lIns="0" tIns="0" rIns="0" bIns="0" rtlCol="0" anchor="ctr"/>
          <a:lstStyle/>
          <a:p>
            <a:pPr indent="0" marL="0">
              <a:buNone/>
            </a:pPr>
            <a:r>
              <a:rPr lang="en-US" sz="1600" dirty="0">
                <a:solidFill>
                  <a:srgbClr val="625E73"/>
                </a:solidFill>
                <a:latin typeface="Arial" pitchFamily="34" charset="0"/>
                <a:ea typeface="Arial" pitchFamily="34" charset="-122"/>
                <a:cs typeface="Arial" pitchFamily="34" charset="-120"/>
              </a:rPr>
              <a:t>One system; each role has a focused workspace.</a:t>
            </a:r>
            <a:endParaRPr lang="en-US" sz="1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2697480"/>
          <a:ext cx="10881360" cy="3108960"/>
        </p:xfrm>
        <a:graphic>
          <a:graphicData uri="http://schemas.openxmlformats.org/drawingml/2006/table">
            <a:tbl>
              <a:tblPr/>
              <a:tblGrid>
                <a:gridCol w="1828800"/>
                <a:gridCol w="3840480"/>
                <a:gridCol w="5212080"/>
              </a:tblGrid>
              <a:tr h="502920">
                <a:tc>
                  <a:txBody>
                    <a:bodyPr/>
                    <a:lstStyle/>
                    <a:p>
                      <a:pPr indent="0" marL="0">
                        <a:buNone/>
                      </a:pPr>
                      <a:r>
                        <a:rPr lang="en-US" sz="1700" b="1" dirty="0">
                          <a:solidFill>
                            <a:srgbClr val="211D35"/>
                          </a:solidFill>
                          <a:latin typeface="Arial" pitchFamily="34" charset="0"/>
                          <a:ea typeface="Arial" pitchFamily="34" charset="-122"/>
                          <a:cs typeface="Arial" pitchFamily="34" charset="-120"/>
                        </a:rPr>
                        <a:t>Role</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c>
                  <a:txBody>
                    <a:bodyPr/>
                    <a:lstStyle/>
                    <a:p>
                      <a:pPr indent="0" marL="0">
                        <a:buNone/>
                      </a:pPr>
                      <a:r>
                        <a:rPr lang="en-US" sz="1700" b="1" dirty="0">
                          <a:solidFill>
                            <a:srgbClr val="211D35"/>
                          </a:solidFill>
                          <a:latin typeface="Arial" pitchFamily="34" charset="0"/>
                          <a:ea typeface="Arial" pitchFamily="34" charset="-122"/>
                          <a:cs typeface="Arial" pitchFamily="34" charset="-120"/>
                        </a:rPr>
                        <a:t>Entry</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c>
                  <a:txBody>
                    <a:bodyPr/>
                    <a:lstStyle/>
                    <a:p>
                      <a:pPr indent="0" marL="0">
                        <a:buNone/>
                      </a:pPr>
                      <a:r>
                        <a:rPr lang="en-US" sz="1700" b="1" dirty="0">
                          <a:solidFill>
                            <a:srgbClr val="211D35"/>
                          </a:solidFill>
                          <a:latin typeface="Arial" pitchFamily="34" charset="0"/>
                          <a:ea typeface="Arial" pitchFamily="34" charset="-122"/>
                          <a:cs typeface="Arial" pitchFamily="34" charset="-120"/>
                        </a:rPr>
                        <a:t>Work</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r>
              <a:tr h="502920">
                <a:tc>
                  <a:txBody>
                    <a:bodyPr/>
                    <a:lstStyle/>
                    <a:p>
                      <a:pPr indent="0" marL="0">
                        <a:buNone/>
                      </a:pPr>
                      <a:r>
                        <a:rPr lang="en-US" sz="1700" dirty="0">
                          <a:solidFill>
                            <a:srgbClr val="211D35"/>
                          </a:solidFill>
                          <a:latin typeface="Arial" pitchFamily="34" charset="0"/>
                          <a:ea typeface="Arial" pitchFamily="34" charset="-122"/>
                          <a:cs typeface="Arial" pitchFamily="34" charset="-120"/>
                        </a:rPr>
                        <a:t>Resident</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c>
                  <a:txBody>
                    <a:bodyPr/>
                    <a:lstStyle/>
                    <a:p>
                      <a:pPr indent="0" marL="0">
                        <a:buNone/>
                      </a:pPr>
                      <a:r>
                        <a:rPr lang="en-US" sz="1700" dirty="0">
                          <a:solidFill>
                            <a:srgbClr val="211D35"/>
                          </a:solidFill>
                          <a:latin typeface="Arial" pitchFamily="34" charset="0"/>
                          <a:ea typeface="Arial" pitchFamily="34" charset="-122"/>
                          <a:cs typeface="Arial" pitchFamily="34" charset="-120"/>
                        </a:rPr>
                        <a:t>Flutter or web /my</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c>
                  <a:txBody>
                    <a:bodyPr/>
                    <a:lstStyle/>
                    <a:p>
                      <a:pPr indent="0" marL="0">
                        <a:buNone/>
                      </a:pPr>
                      <a:r>
                        <a:rPr lang="en-US" sz="1700" dirty="0">
                          <a:solidFill>
                            <a:srgbClr val="211D35"/>
                          </a:solidFill>
                          <a:latin typeface="Arial" pitchFamily="34" charset="0"/>
                          <a:ea typeface="Arial" pitchFamily="34" charset="-122"/>
                          <a:cs typeface="Arial" pitchFamily="34" charset="-120"/>
                        </a:rPr>
                        <a:t>Report and follow your own incidents</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r>
              <a:tr h="502920">
                <a:tc>
                  <a:txBody>
                    <a:bodyPr/>
                    <a:lstStyle/>
                    <a:p>
                      <a:pPr indent="0" marL="0">
                        <a:buNone/>
                      </a:pPr>
                      <a:r>
                        <a:rPr lang="en-US" sz="1700" dirty="0">
                          <a:solidFill>
                            <a:srgbClr val="211D35"/>
                          </a:solidFill>
                          <a:latin typeface="Arial" pitchFamily="34" charset="0"/>
                          <a:ea typeface="Arial" pitchFamily="34" charset="-122"/>
                          <a:cs typeface="Arial" pitchFamily="34" charset="-120"/>
                        </a:rPr>
                        <a:t>Responder</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c>
                  <a:txBody>
                    <a:bodyPr/>
                    <a:lstStyle/>
                    <a:p>
                      <a:pPr indent="0" marL="0">
                        <a:buNone/>
                      </a:pPr>
                      <a:r>
                        <a:rPr lang="en-US" sz="1700" dirty="0">
                          <a:solidFill>
                            <a:srgbClr val="211D35"/>
                          </a:solidFill>
                          <a:latin typeface="Arial" pitchFamily="34" charset="0"/>
                          <a:ea typeface="Arial" pitchFamily="34" charset="-122"/>
                          <a:cs typeface="Arial" pitchFamily="34" charset="-120"/>
                        </a:rPr>
                        <a:t>Flutter or web /assignments</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c>
                  <a:txBody>
                    <a:bodyPr/>
                    <a:lstStyle/>
                    <a:p>
                      <a:pPr indent="0" marL="0">
                        <a:buNone/>
                      </a:pPr>
                      <a:r>
                        <a:rPr lang="en-US" sz="1700" dirty="0">
                          <a:solidFill>
                            <a:srgbClr val="211D35"/>
                          </a:solidFill>
                          <a:latin typeface="Arial" pitchFamily="34" charset="0"/>
                          <a:ea typeface="Arial" pitchFamily="34" charset="-122"/>
                          <a:cs typeface="Arial" pitchFamily="34" charset="-120"/>
                        </a:rPr>
                        <a:t>Current-team assignments and progress</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r>
              <a:tr h="502920">
                <a:tc>
                  <a:txBody>
                    <a:bodyPr/>
                    <a:lstStyle/>
                    <a:p>
                      <a:pPr indent="0" marL="0">
                        <a:buNone/>
                      </a:pPr>
                      <a:r>
                        <a:rPr lang="en-US" sz="1700" dirty="0">
                          <a:solidFill>
                            <a:srgbClr val="211D35"/>
                          </a:solidFill>
                          <a:latin typeface="Arial" pitchFamily="34" charset="0"/>
                          <a:ea typeface="Arial" pitchFamily="34" charset="-122"/>
                          <a:cs typeface="Arial" pitchFamily="34" charset="-120"/>
                        </a:rPr>
                        <a:t>Dispatcher</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c>
                  <a:txBody>
                    <a:bodyPr/>
                    <a:lstStyle/>
                    <a:p>
                      <a:pPr indent="0" marL="0">
                        <a:buNone/>
                      </a:pPr>
                      <a:r>
                        <a:rPr lang="en-US" sz="1700" dirty="0">
                          <a:solidFill>
                            <a:srgbClr val="211D35"/>
                          </a:solidFill>
                          <a:latin typeface="Arial" pitchFamily="34" charset="0"/>
                          <a:ea typeface="Arial" pitchFamily="34" charset="-122"/>
                          <a:cs typeface="Arial" pitchFamily="34" charset="-120"/>
                        </a:rPr>
                        <a:t>Web /dashboard</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c>
                  <a:txBody>
                    <a:bodyPr/>
                    <a:lstStyle/>
                    <a:p>
                      <a:pPr indent="0" marL="0">
                        <a:buNone/>
                      </a:pPr>
                      <a:r>
                        <a:rPr lang="en-US" sz="1700" dirty="0">
                          <a:solidFill>
                            <a:srgbClr val="211D35"/>
                          </a:solidFill>
                          <a:latin typeface="Arial" pitchFamily="34" charset="0"/>
                          <a:ea typeface="Arial" pitchFamily="34" charset="-122"/>
                          <a:cs typeface="Arial" pitchFamily="34" charset="-120"/>
                        </a:rPr>
                        <a:t>Review, prioritize and coordinate</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r>
              <a:tr h="502920">
                <a:tc>
                  <a:txBody>
                    <a:bodyPr/>
                    <a:lstStyle/>
                    <a:p>
                      <a:pPr indent="0" marL="0">
                        <a:buNone/>
                      </a:pPr>
                      <a:r>
                        <a:rPr lang="en-US" sz="1700" dirty="0">
                          <a:solidFill>
                            <a:srgbClr val="211D35"/>
                          </a:solidFill>
                          <a:latin typeface="Arial" pitchFamily="34" charset="0"/>
                          <a:ea typeface="Arial" pitchFamily="34" charset="-122"/>
                          <a:cs typeface="Arial" pitchFamily="34" charset="-120"/>
                        </a:rPr>
                        <a:t>DMO</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c>
                  <a:txBody>
                    <a:bodyPr/>
                    <a:lstStyle/>
                    <a:p>
                      <a:pPr indent="0" marL="0">
                        <a:buNone/>
                      </a:pPr>
                      <a:r>
                        <a:rPr lang="en-US" sz="1700" dirty="0">
                          <a:solidFill>
                            <a:srgbClr val="211D35"/>
                          </a:solidFill>
                          <a:latin typeface="Arial" pitchFamily="34" charset="0"/>
                          <a:ea typeface="Arial" pitchFamily="34" charset="-122"/>
                          <a:cs typeface="Arial" pitchFamily="34" charset="-120"/>
                        </a:rPr>
                        <a:t>Web /monitor</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c>
                  <a:txBody>
                    <a:bodyPr/>
                    <a:lstStyle/>
                    <a:p>
                      <a:pPr indent="0" marL="0">
                        <a:buNone/>
                      </a:pPr>
                      <a:r>
                        <a:rPr lang="en-US" sz="1700" dirty="0">
                          <a:solidFill>
                            <a:srgbClr val="211D35"/>
                          </a:solidFill>
                          <a:latin typeface="Arial" pitchFamily="34" charset="0"/>
                          <a:ea typeface="Arial" pitchFamily="34" charset="-122"/>
                          <a:cs typeface="Arial" pitchFamily="34" charset="-120"/>
                        </a:rPr>
                        <a:t>Read-only monitoring and analytics</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r>
              <a:tr h="502920">
                <a:tc>
                  <a:txBody>
                    <a:bodyPr/>
                    <a:lstStyle/>
                    <a:p>
                      <a:pPr indent="0" marL="0">
                        <a:buNone/>
                      </a:pPr>
                      <a:r>
                        <a:rPr lang="en-US" sz="1700" dirty="0">
                          <a:solidFill>
                            <a:srgbClr val="211D35"/>
                          </a:solidFill>
                          <a:latin typeface="Arial" pitchFamily="34" charset="0"/>
                          <a:ea typeface="Arial" pitchFamily="34" charset="-122"/>
                          <a:cs typeface="Arial" pitchFamily="34" charset="-120"/>
                        </a:rPr>
                        <a:t>Admin</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c>
                  <a:txBody>
                    <a:bodyPr/>
                    <a:lstStyle/>
                    <a:p>
                      <a:pPr indent="0" marL="0">
                        <a:buNone/>
                      </a:pPr>
                      <a:r>
                        <a:rPr lang="en-US" sz="1700" dirty="0">
                          <a:solidFill>
                            <a:srgbClr val="211D35"/>
                          </a:solidFill>
                          <a:latin typeface="Arial" pitchFamily="34" charset="0"/>
                          <a:ea typeface="Arial" pitchFamily="34" charset="-122"/>
                          <a:cs typeface="Arial" pitchFamily="34" charset="-120"/>
                        </a:rPr>
                        <a:t>Web /admin</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c>
                  <a:txBody>
                    <a:bodyPr/>
                    <a:lstStyle/>
                    <a:p>
                      <a:pPr indent="0" marL="0">
                        <a:buNone/>
                      </a:pPr>
                      <a:r>
                        <a:rPr lang="en-US" sz="1700" dirty="0">
                          <a:solidFill>
                            <a:srgbClr val="211D35"/>
                          </a:solidFill>
                          <a:latin typeface="Arial" pitchFamily="34" charset="0"/>
                          <a:ea typeface="Arial" pitchFamily="34" charset="-122"/>
                          <a:cs typeface="Arial" pitchFamily="34" charset="-120"/>
                        </a:rPr>
                        <a:t>Account, team and staff administration</a:t>
                      </a:r>
                      <a:endParaRPr lang="en-US" sz="1700" dirty="0">
                        <a:latin typeface="Arial" charset="0"/>
                        <a:ea typeface="Arial" charset="0"/>
                        <a:cs typeface="Arial" charset="0"/>
                      </a:endParaRPr>
                    </a:p>
                  </a:txBody>
                  <a:tcPr marL="118872" marR="118872" marT="118872" marB="118872">
                    <a:lnL w="6350" cap="flat" cmpd="sng" algn="ctr">
                      <a:solidFill>
                        <a:srgbClr val="E5E3ED"/>
                      </a:solidFill>
                      <a:prstDash val="solid"/>
                      <a:round/>
                      <a:headEnd type="none" w="med" len="med"/>
                      <a:tailEnd type="none" w="med" len="med"/>
                    </a:lnL>
                    <a:lnR w="6350" cap="flat" cmpd="sng" algn="ctr">
                      <a:solidFill>
                        <a:srgbClr val="E5E3ED"/>
                      </a:solidFill>
                      <a:prstDash val="solid"/>
                      <a:round/>
                      <a:headEnd type="none" w="med" len="med"/>
                      <a:tailEnd type="none" w="med" len="med"/>
                    </a:lnR>
                    <a:lnT w="6350" cap="flat" cmpd="sng" algn="ctr">
                      <a:solidFill>
                        <a:srgbClr val="E5E3ED"/>
                      </a:solidFill>
                      <a:prstDash val="solid"/>
                      <a:round/>
                      <a:headEnd type="none" w="med" len="med"/>
                      <a:tailEnd type="none" w="med" len="med"/>
                    </a:lnT>
                    <a:lnB w="6350" cap="flat" cmpd="sng" algn="ctr">
                      <a:solidFill>
                        <a:srgbClr val="E5E3ED"/>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A"/>
        </a:solidFill>
      </p:bgPr>
    </p:bg>
    <p:spTree>
      <p:nvGrpSpPr>
        <p:cNvPr id="1" name=""/>
        <p:cNvGrpSpPr/>
        <p:nvPr/>
      </p:nvGrpSpPr>
      <p:grpSpPr>
        <a:xfrm>
          <a:off x="0" y="0"/>
          <a:ext cx="0" cy="0"/>
          <a:chOff x="0" y="0"/>
          <a:chExt cx="0" cy="0"/>
        </a:xfrm>
      </p:grpSpPr>
      <p:sp>
        <p:nvSpPr>
          <p:cNvPr id="2" name="Text 0"/>
          <p:cNvSpPr/>
          <p:nvPr/>
        </p:nvSpPr>
        <p:spPr>
          <a:xfrm>
            <a:off x="594360" y="320040"/>
            <a:ext cx="8229600" cy="274320"/>
          </a:xfrm>
          <a:prstGeom prst="rect">
            <a:avLst/>
          </a:prstGeom>
          <a:noFill/>
          <a:ln/>
        </p:spPr>
        <p:txBody>
          <a:bodyPr wrap="square" lIns="0" tIns="0" rIns="0" bIns="0" rtlCol="0" anchor="ctr"/>
          <a:lstStyle/>
          <a:p>
            <a:pPr indent="0" marL="0">
              <a:buNone/>
            </a:pPr>
            <a:r>
              <a:rPr lang="en-US" sz="1300" b="1" dirty="0">
                <a:solidFill>
                  <a:srgbClr val="6D28D9"/>
                </a:solidFill>
                <a:latin typeface="Arial" pitchFamily="34" charset="0"/>
                <a:ea typeface="Arial" pitchFamily="34" charset="-122"/>
                <a:cs typeface="Arial" pitchFamily="34" charset="-120"/>
              </a:rPr>
              <a:t>Rescue Reports</a:t>
            </a:r>
            <a:endParaRPr lang="en-US" sz="1300" dirty="0"/>
          </a:p>
        </p:txBody>
      </p:sp>
      <p:sp>
        <p:nvSpPr>
          <p:cNvPr id="3" name="Text 1"/>
          <p:cNvSpPr/>
          <p:nvPr/>
        </p:nvSpPr>
        <p:spPr>
          <a:xfrm>
            <a:off x="10972800" y="320040"/>
            <a:ext cx="594360" cy="274320"/>
          </a:xfrm>
          <a:prstGeom prst="rect">
            <a:avLst/>
          </a:prstGeom>
          <a:noFill/>
          <a:ln/>
        </p:spPr>
        <p:txBody>
          <a:bodyPr wrap="square" lIns="0" tIns="0" rIns="0" bIns="0" rtlCol="0" anchor="ctr"/>
          <a:lstStyle/>
          <a:p>
            <a:pPr indent="0" marL="0">
              <a:buNone/>
            </a:pPr>
            <a:r>
              <a:rPr lang="en-US" sz="1200" dirty="0">
                <a:solidFill>
                  <a:srgbClr val="625E73"/>
                </a:solidFill>
                <a:latin typeface="Arial" pitchFamily="34" charset="0"/>
                <a:ea typeface="Arial" pitchFamily="34" charset="-122"/>
                <a:cs typeface="Arial" pitchFamily="34" charset="-120"/>
              </a:rPr>
              <a:t>03</a:t>
            </a:r>
            <a:endParaRPr lang="en-US" sz="1200" dirty="0"/>
          </a:p>
        </p:txBody>
      </p:sp>
      <p:sp>
        <p:nvSpPr>
          <p:cNvPr id="4" name="Text 2"/>
          <p:cNvSpPr/>
          <p:nvPr/>
        </p:nvSpPr>
        <p:spPr>
          <a:xfrm>
            <a:off x="594360" y="868680"/>
            <a:ext cx="10972800" cy="1051560"/>
          </a:xfrm>
          <a:prstGeom prst="rect">
            <a:avLst/>
          </a:prstGeom>
          <a:noFill/>
          <a:ln/>
        </p:spPr>
        <p:txBody>
          <a:bodyPr wrap="square" lIns="0" tIns="0" rIns="0" bIns="0" rtlCol="0" anchor="ctr"/>
          <a:lstStyle/>
          <a:p>
            <a:pPr indent="0" marL="0">
              <a:buNone/>
            </a:pPr>
            <a:r>
              <a:rPr lang="en-US" sz="3600" b="1" dirty="0">
                <a:solidFill>
                  <a:srgbClr val="211D35"/>
                </a:solidFill>
                <a:latin typeface="Arial" pitchFamily="34" charset="0"/>
                <a:ea typeface="Arial" pitchFamily="34" charset="-122"/>
                <a:cs typeface="Arial" pitchFamily="34" charset="-120"/>
              </a:rPr>
              <a:t>Start with the welcome screen</a:t>
            </a:r>
            <a:endParaRPr lang="en-US" sz="3600" dirty="0"/>
          </a:p>
        </p:txBody>
      </p:sp>
      <p:sp>
        <p:nvSpPr>
          <p:cNvPr id="5" name="Text 3"/>
          <p:cNvSpPr/>
          <p:nvPr/>
        </p:nvSpPr>
        <p:spPr>
          <a:xfrm>
            <a:off x="594360" y="1874520"/>
            <a:ext cx="10881360" cy="594360"/>
          </a:xfrm>
          <a:prstGeom prst="rect">
            <a:avLst/>
          </a:prstGeom>
          <a:noFill/>
          <a:ln/>
        </p:spPr>
        <p:txBody>
          <a:bodyPr wrap="square" lIns="0" tIns="0" rIns="0" bIns="0" rtlCol="0" anchor="ctr"/>
          <a:lstStyle/>
          <a:p>
            <a:pPr indent="0" marL="0">
              <a:buNone/>
            </a:pPr>
            <a:r>
              <a:rPr lang="en-US" sz="1600" dirty="0">
                <a:solidFill>
                  <a:srgbClr val="625E73"/>
                </a:solidFill>
                <a:latin typeface="Arial" pitchFamily="34" charset="0"/>
                <a:ea typeface="Arial" pitchFamily="34" charset="-122"/>
                <a:cs typeface="Arial" pitchFamily="34" charset="-120"/>
              </a:rPr>
              <a:t>Create a resident account, or sign in with an existing account.</a:t>
            </a:r>
            <a:endParaRPr lang="en-US" sz="1600" dirty="0"/>
          </a:p>
        </p:txBody>
      </p:sp>
      <p:sp>
        <p:nvSpPr>
          <p:cNvPr id="6" name="Text 4"/>
          <p:cNvSpPr/>
          <p:nvPr/>
        </p:nvSpPr>
        <p:spPr>
          <a:xfrm>
            <a:off x="640080" y="25603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01</a:t>
            </a:r>
            <a:endParaRPr lang="en-US" sz="1600" dirty="0"/>
          </a:p>
        </p:txBody>
      </p:sp>
      <p:sp>
        <p:nvSpPr>
          <p:cNvPr id="7" name="Text 5"/>
          <p:cNvSpPr/>
          <p:nvPr/>
        </p:nvSpPr>
        <p:spPr>
          <a:xfrm>
            <a:off x="1234440" y="25603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Create a resident account for personal reporting.</a:t>
            </a:r>
            <a:endParaRPr lang="en-US" sz="1900" dirty="0"/>
          </a:p>
        </p:txBody>
      </p:sp>
      <p:sp>
        <p:nvSpPr>
          <p:cNvPr id="8" name="Text 6"/>
          <p:cNvSpPr/>
          <p:nvPr/>
        </p:nvSpPr>
        <p:spPr>
          <a:xfrm>
            <a:off x="640080" y="32461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02</a:t>
            </a:r>
            <a:endParaRPr lang="en-US" sz="1600" dirty="0"/>
          </a:p>
        </p:txBody>
      </p:sp>
      <p:sp>
        <p:nvSpPr>
          <p:cNvPr id="9" name="Text 7"/>
          <p:cNvSpPr/>
          <p:nvPr/>
        </p:nvSpPr>
        <p:spPr>
          <a:xfrm>
            <a:off x="1234440" y="32461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Use shared sign-in for residents and assigned responders.</a:t>
            </a:r>
            <a:endParaRPr lang="en-US" sz="1900" dirty="0"/>
          </a:p>
        </p:txBody>
      </p:sp>
      <p:sp>
        <p:nvSpPr>
          <p:cNvPr id="10" name="Text 8"/>
          <p:cNvSpPr/>
          <p:nvPr/>
        </p:nvSpPr>
        <p:spPr>
          <a:xfrm>
            <a:off x="640080" y="39319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03</a:t>
            </a:r>
            <a:endParaRPr lang="en-US" sz="1600" dirty="0"/>
          </a:p>
        </p:txBody>
      </p:sp>
      <p:sp>
        <p:nvSpPr>
          <p:cNvPr id="11" name="Text 9"/>
          <p:cNvSpPr/>
          <p:nvPr/>
        </p:nvSpPr>
        <p:spPr>
          <a:xfrm>
            <a:off x="1234440" y="39319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Staff administration stays in the web workspace.</a:t>
            </a:r>
            <a:endParaRPr lang="en-US" sz="1900" dirty="0"/>
          </a:p>
        </p:txBody>
      </p:sp>
      <p:sp>
        <p:nvSpPr>
          <p:cNvPr id="12" name="Text 10"/>
          <p:cNvSpPr/>
          <p:nvPr/>
        </p:nvSpPr>
        <p:spPr>
          <a:xfrm>
            <a:off x="640080" y="46177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04</a:t>
            </a:r>
            <a:endParaRPr lang="en-US" sz="1600" dirty="0"/>
          </a:p>
        </p:txBody>
      </p:sp>
      <p:sp>
        <p:nvSpPr>
          <p:cNvPr id="13" name="Text 11"/>
          <p:cNvSpPr/>
          <p:nvPr/>
        </p:nvSpPr>
        <p:spPr>
          <a:xfrm>
            <a:off x="1234440" y="46177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Read the safety notice before reporting.</a:t>
            </a:r>
            <a:endParaRPr lang="en-US" sz="1900" dirty="0"/>
          </a:p>
        </p:txBody>
      </p:sp>
      <p:pic>
        <p:nvPicPr>
          <p:cNvPr id="14" name="Image 0" descr="/private/tmp/rescue-release-integration-2026-10-18/docs/user-guide/images/welcome-390-r2.png">    </p:cNvPr>
          <p:cNvPicPr>
            <a:picLocks noChangeAspect="1"/>
          </p:cNvPicPr>
          <p:nvPr/>
        </p:nvPicPr>
        <p:blipFill>
          <a:blip r:embed="rId1"/>
          <a:stretch>
            <a:fillRect/>
          </a:stretch>
        </p:blipFill>
        <p:spPr>
          <a:xfrm>
            <a:off x="8503920" y="1463040"/>
            <a:ext cx="2148840" cy="464515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A"/>
        </a:solidFill>
      </p:bgPr>
    </p:bg>
    <p:spTree>
      <p:nvGrpSpPr>
        <p:cNvPr id="1" name=""/>
        <p:cNvGrpSpPr/>
        <p:nvPr/>
      </p:nvGrpSpPr>
      <p:grpSpPr>
        <a:xfrm>
          <a:off x="0" y="0"/>
          <a:ext cx="0" cy="0"/>
          <a:chOff x="0" y="0"/>
          <a:chExt cx="0" cy="0"/>
        </a:xfrm>
      </p:grpSpPr>
      <p:sp>
        <p:nvSpPr>
          <p:cNvPr id="2" name="Text 0"/>
          <p:cNvSpPr/>
          <p:nvPr/>
        </p:nvSpPr>
        <p:spPr>
          <a:xfrm>
            <a:off x="594360" y="320040"/>
            <a:ext cx="8229600" cy="274320"/>
          </a:xfrm>
          <a:prstGeom prst="rect">
            <a:avLst/>
          </a:prstGeom>
          <a:noFill/>
          <a:ln/>
        </p:spPr>
        <p:txBody>
          <a:bodyPr wrap="square" lIns="0" tIns="0" rIns="0" bIns="0" rtlCol="0" anchor="ctr"/>
          <a:lstStyle/>
          <a:p>
            <a:pPr indent="0" marL="0">
              <a:buNone/>
            </a:pPr>
            <a:r>
              <a:rPr lang="en-US" sz="1300" b="1" dirty="0">
                <a:solidFill>
                  <a:srgbClr val="6D28D9"/>
                </a:solidFill>
                <a:latin typeface="Arial" pitchFamily="34" charset="0"/>
                <a:ea typeface="Arial" pitchFamily="34" charset="-122"/>
                <a:cs typeface="Arial" pitchFamily="34" charset="-120"/>
              </a:rPr>
              <a:t>Rescue Reports</a:t>
            </a:r>
            <a:endParaRPr lang="en-US" sz="1300" dirty="0"/>
          </a:p>
        </p:txBody>
      </p:sp>
      <p:sp>
        <p:nvSpPr>
          <p:cNvPr id="3" name="Text 1"/>
          <p:cNvSpPr/>
          <p:nvPr/>
        </p:nvSpPr>
        <p:spPr>
          <a:xfrm>
            <a:off x="10972800" y="320040"/>
            <a:ext cx="594360" cy="274320"/>
          </a:xfrm>
          <a:prstGeom prst="rect">
            <a:avLst/>
          </a:prstGeom>
          <a:noFill/>
          <a:ln/>
        </p:spPr>
        <p:txBody>
          <a:bodyPr wrap="square" lIns="0" tIns="0" rIns="0" bIns="0" rtlCol="0" anchor="ctr"/>
          <a:lstStyle/>
          <a:p>
            <a:pPr indent="0" marL="0">
              <a:buNone/>
            </a:pPr>
            <a:r>
              <a:rPr lang="en-US" sz="1200" dirty="0">
                <a:solidFill>
                  <a:srgbClr val="625E73"/>
                </a:solidFill>
                <a:latin typeface="Arial" pitchFamily="34" charset="0"/>
                <a:ea typeface="Arial" pitchFamily="34" charset="-122"/>
                <a:cs typeface="Arial" pitchFamily="34" charset="-120"/>
              </a:rPr>
              <a:t>04</a:t>
            </a:r>
            <a:endParaRPr lang="en-US" sz="1200" dirty="0"/>
          </a:p>
        </p:txBody>
      </p:sp>
      <p:sp>
        <p:nvSpPr>
          <p:cNvPr id="4" name="Text 2"/>
          <p:cNvSpPr/>
          <p:nvPr/>
        </p:nvSpPr>
        <p:spPr>
          <a:xfrm>
            <a:off x="594360" y="868680"/>
            <a:ext cx="10972800" cy="1051560"/>
          </a:xfrm>
          <a:prstGeom prst="rect">
            <a:avLst/>
          </a:prstGeom>
          <a:noFill/>
          <a:ln/>
        </p:spPr>
        <p:txBody>
          <a:bodyPr wrap="square" lIns="0" tIns="0" rIns="0" bIns="0" rtlCol="0" anchor="ctr"/>
          <a:lstStyle/>
          <a:p>
            <a:pPr indent="0" marL="0">
              <a:buNone/>
            </a:pPr>
            <a:r>
              <a:rPr lang="en-US" sz="3600" b="1" dirty="0">
                <a:solidFill>
                  <a:srgbClr val="211D35"/>
                </a:solidFill>
                <a:latin typeface="Arial" pitchFamily="34" charset="0"/>
                <a:ea typeface="Arial" pitchFamily="34" charset="-122"/>
                <a:cs typeface="Arial" pitchFamily="34" charset="-120"/>
              </a:rPr>
              <a:t>Send a resident report</a:t>
            </a:r>
            <a:endParaRPr lang="en-US" sz="3600" dirty="0"/>
          </a:p>
        </p:txBody>
      </p:sp>
      <p:sp>
        <p:nvSpPr>
          <p:cNvPr id="5" name="Text 3"/>
          <p:cNvSpPr/>
          <p:nvPr/>
        </p:nvSpPr>
        <p:spPr>
          <a:xfrm>
            <a:off x="594360" y="1874520"/>
            <a:ext cx="10881360" cy="594360"/>
          </a:xfrm>
          <a:prstGeom prst="rect">
            <a:avLst/>
          </a:prstGeom>
          <a:noFill/>
          <a:ln/>
        </p:spPr>
        <p:txBody>
          <a:bodyPr wrap="square" lIns="0" tIns="0" rIns="0" bIns="0" rtlCol="0" anchor="ctr"/>
          <a:lstStyle/>
          <a:p>
            <a:pPr indent="0" marL="0">
              <a:buNone/>
            </a:pPr>
            <a:r>
              <a:rPr lang="en-US" sz="1600" dirty="0">
                <a:solidFill>
                  <a:srgbClr val="625E73"/>
                </a:solidFill>
                <a:latin typeface="Arial" pitchFamily="34" charset="0"/>
                <a:ea typeface="Arial" pitchFamily="34" charset="-122"/>
                <a:cs typeface="Arial" pitchFamily="34" charset="-120"/>
              </a:rPr>
              <a:t>Four steps keep the location and details together.</a:t>
            </a:r>
            <a:endParaRPr lang="en-US" sz="1600" dirty="0"/>
          </a:p>
        </p:txBody>
      </p:sp>
      <p:sp>
        <p:nvSpPr>
          <p:cNvPr id="6" name="Text 4"/>
          <p:cNvSpPr/>
          <p:nvPr/>
        </p:nvSpPr>
        <p:spPr>
          <a:xfrm>
            <a:off x="640080" y="25603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01</a:t>
            </a:r>
            <a:endParaRPr lang="en-US" sz="1600" dirty="0"/>
          </a:p>
        </p:txBody>
      </p:sp>
      <p:sp>
        <p:nvSpPr>
          <p:cNvPr id="7" name="Text 5"/>
          <p:cNvSpPr/>
          <p:nvPr/>
        </p:nvSpPr>
        <p:spPr>
          <a:xfrm>
            <a:off x="1234440" y="25603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Choose the emergency type.</a:t>
            </a:r>
            <a:endParaRPr lang="en-US" sz="1900" dirty="0"/>
          </a:p>
        </p:txBody>
      </p:sp>
      <p:sp>
        <p:nvSpPr>
          <p:cNvPr id="8" name="Text 6"/>
          <p:cNvSpPr/>
          <p:nvPr/>
        </p:nvSpPr>
        <p:spPr>
          <a:xfrm>
            <a:off x="640080" y="32461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02</a:t>
            </a:r>
            <a:endParaRPr lang="en-US" sz="1600" dirty="0"/>
          </a:p>
        </p:txBody>
      </p:sp>
      <p:sp>
        <p:nvSpPr>
          <p:cNvPr id="9" name="Text 7"/>
          <p:cNvSpPr/>
          <p:nvPr/>
        </p:nvSpPr>
        <p:spPr>
          <a:xfrm>
            <a:off x="1234440" y="32461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Use GPS or choose a point on the map.</a:t>
            </a:r>
            <a:endParaRPr lang="en-US" sz="1900" dirty="0"/>
          </a:p>
        </p:txBody>
      </p:sp>
      <p:sp>
        <p:nvSpPr>
          <p:cNvPr id="10" name="Text 8"/>
          <p:cNvSpPr/>
          <p:nvPr/>
        </p:nvSpPr>
        <p:spPr>
          <a:xfrm>
            <a:off x="640080" y="39319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03</a:t>
            </a:r>
            <a:endParaRPr lang="en-US" sz="1600" dirty="0"/>
          </a:p>
        </p:txBody>
      </p:sp>
      <p:sp>
        <p:nvSpPr>
          <p:cNvPr id="11" name="Text 9"/>
          <p:cNvSpPr/>
          <p:nvPr/>
        </p:nvSpPr>
        <p:spPr>
          <a:xfrm>
            <a:off x="1234440" y="39319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Describe the situation; add contact details and optional photos.</a:t>
            </a:r>
            <a:endParaRPr lang="en-US" sz="1900" dirty="0"/>
          </a:p>
        </p:txBody>
      </p:sp>
      <p:sp>
        <p:nvSpPr>
          <p:cNvPr id="12" name="Text 10"/>
          <p:cNvSpPr/>
          <p:nvPr/>
        </p:nvSpPr>
        <p:spPr>
          <a:xfrm>
            <a:off x="640080" y="46177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04</a:t>
            </a:r>
            <a:endParaRPr lang="en-US" sz="1600" dirty="0"/>
          </a:p>
        </p:txBody>
      </p:sp>
      <p:sp>
        <p:nvSpPr>
          <p:cNvPr id="13" name="Text 11"/>
          <p:cNvSpPr/>
          <p:nvPr/>
        </p:nvSpPr>
        <p:spPr>
          <a:xfrm>
            <a:off x="1234440" y="46177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Review, submit, and keep the confirmed reference.</a:t>
            </a:r>
            <a:endParaRPr lang="en-US" sz="1900" dirty="0"/>
          </a:p>
        </p:txBody>
      </p:sp>
      <p:pic>
        <p:nvPicPr>
          <p:cNvPr id="14" name="Image 0" descr="/private/tmp/rescue-release-integration-2026-10-18/docs/user-guide/images/location-390.png">    </p:cNvPr>
          <p:cNvPicPr>
            <a:picLocks noChangeAspect="1"/>
          </p:cNvPicPr>
          <p:nvPr/>
        </p:nvPicPr>
        <p:blipFill>
          <a:blip r:embed="rId1"/>
          <a:stretch>
            <a:fillRect/>
          </a:stretch>
        </p:blipFill>
        <p:spPr>
          <a:xfrm>
            <a:off x="8503920" y="1463040"/>
            <a:ext cx="2148840" cy="464515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A"/>
        </a:solidFill>
      </p:bgPr>
    </p:bg>
    <p:spTree>
      <p:nvGrpSpPr>
        <p:cNvPr id="1" name=""/>
        <p:cNvGrpSpPr/>
        <p:nvPr/>
      </p:nvGrpSpPr>
      <p:grpSpPr>
        <a:xfrm>
          <a:off x="0" y="0"/>
          <a:ext cx="0" cy="0"/>
          <a:chOff x="0" y="0"/>
          <a:chExt cx="0" cy="0"/>
        </a:xfrm>
      </p:grpSpPr>
      <p:sp>
        <p:nvSpPr>
          <p:cNvPr id="2" name="Text 0"/>
          <p:cNvSpPr/>
          <p:nvPr/>
        </p:nvSpPr>
        <p:spPr>
          <a:xfrm>
            <a:off x="594360" y="320040"/>
            <a:ext cx="8229600" cy="274320"/>
          </a:xfrm>
          <a:prstGeom prst="rect">
            <a:avLst/>
          </a:prstGeom>
          <a:noFill/>
          <a:ln/>
        </p:spPr>
        <p:txBody>
          <a:bodyPr wrap="square" lIns="0" tIns="0" rIns="0" bIns="0" rtlCol="0" anchor="ctr"/>
          <a:lstStyle/>
          <a:p>
            <a:pPr indent="0" marL="0">
              <a:buNone/>
            </a:pPr>
            <a:r>
              <a:rPr lang="en-US" sz="1300" b="1" dirty="0">
                <a:solidFill>
                  <a:srgbClr val="6D28D9"/>
                </a:solidFill>
                <a:latin typeface="Arial" pitchFamily="34" charset="0"/>
                <a:ea typeface="Arial" pitchFamily="34" charset="-122"/>
                <a:cs typeface="Arial" pitchFamily="34" charset="-120"/>
              </a:rPr>
              <a:t>Rescue Reports</a:t>
            </a:r>
            <a:endParaRPr lang="en-US" sz="1300" dirty="0"/>
          </a:p>
        </p:txBody>
      </p:sp>
      <p:sp>
        <p:nvSpPr>
          <p:cNvPr id="3" name="Text 1"/>
          <p:cNvSpPr/>
          <p:nvPr/>
        </p:nvSpPr>
        <p:spPr>
          <a:xfrm>
            <a:off x="10972800" y="320040"/>
            <a:ext cx="594360" cy="274320"/>
          </a:xfrm>
          <a:prstGeom prst="rect">
            <a:avLst/>
          </a:prstGeom>
          <a:noFill/>
          <a:ln/>
        </p:spPr>
        <p:txBody>
          <a:bodyPr wrap="square" lIns="0" tIns="0" rIns="0" bIns="0" rtlCol="0" anchor="ctr"/>
          <a:lstStyle/>
          <a:p>
            <a:pPr indent="0" marL="0">
              <a:buNone/>
            </a:pPr>
            <a:r>
              <a:rPr lang="en-US" sz="1200" dirty="0">
                <a:solidFill>
                  <a:srgbClr val="625E73"/>
                </a:solidFill>
                <a:latin typeface="Arial" pitchFamily="34" charset="0"/>
                <a:ea typeface="Arial" pitchFamily="34" charset="-122"/>
                <a:cs typeface="Arial" pitchFamily="34" charset="-120"/>
              </a:rPr>
              <a:t>05</a:t>
            </a:r>
            <a:endParaRPr lang="en-US" sz="1200" dirty="0"/>
          </a:p>
        </p:txBody>
      </p:sp>
      <p:sp>
        <p:nvSpPr>
          <p:cNvPr id="4" name="Text 2"/>
          <p:cNvSpPr/>
          <p:nvPr/>
        </p:nvSpPr>
        <p:spPr>
          <a:xfrm>
            <a:off x="594360" y="868680"/>
            <a:ext cx="10972800" cy="1051560"/>
          </a:xfrm>
          <a:prstGeom prst="rect">
            <a:avLst/>
          </a:prstGeom>
          <a:noFill/>
          <a:ln/>
        </p:spPr>
        <p:txBody>
          <a:bodyPr wrap="square" lIns="0" tIns="0" rIns="0" bIns="0" rtlCol="0" anchor="ctr"/>
          <a:lstStyle/>
          <a:p>
            <a:pPr indent="0" marL="0">
              <a:buNone/>
            </a:pPr>
            <a:r>
              <a:rPr lang="en-US" sz="3600" b="1" dirty="0">
                <a:solidFill>
                  <a:srgbClr val="211D35"/>
                </a:solidFill>
                <a:latin typeface="Arial" pitchFamily="34" charset="0"/>
                <a:ea typeface="Arial" pitchFamily="34" charset="-122"/>
                <a:cs typeface="Arial" pitchFamily="34" charset="-120"/>
              </a:rPr>
              <a:t>A lost reply is an uncertain result</a:t>
            </a:r>
            <a:endParaRPr lang="en-US" sz="3600" dirty="0"/>
          </a:p>
        </p:txBody>
      </p:sp>
      <p:sp>
        <p:nvSpPr>
          <p:cNvPr id="5" name="Text 3"/>
          <p:cNvSpPr/>
          <p:nvPr/>
        </p:nvSpPr>
        <p:spPr>
          <a:xfrm>
            <a:off x="594360" y="1874520"/>
            <a:ext cx="10881360" cy="594360"/>
          </a:xfrm>
          <a:prstGeom prst="rect">
            <a:avLst/>
          </a:prstGeom>
          <a:noFill/>
          <a:ln/>
        </p:spPr>
        <p:txBody>
          <a:bodyPr wrap="square" lIns="0" tIns="0" rIns="0" bIns="0" rtlCol="0" anchor="ctr"/>
          <a:lstStyle/>
          <a:p>
            <a:pPr indent="0" marL="0">
              <a:buNone/>
            </a:pPr>
            <a:r>
              <a:rPr lang="en-US" sz="1600" dirty="0">
                <a:solidFill>
                  <a:srgbClr val="625E73"/>
                </a:solidFill>
                <a:latin typeface="Arial" pitchFamily="34" charset="0"/>
                <a:ea typeface="Arial" pitchFamily="34" charset="-122"/>
                <a:cs typeface="Arial" pitchFamily="34" charset="-120"/>
              </a:rPr>
              <a:t>Check before creating another report or update.</a:t>
            </a:r>
            <a:endParaRPr lang="en-US" sz="1600" dirty="0"/>
          </a:p>
        </p:txBody>
      </p:sp>
      <p:sp>
        <p:nvSpPr>
          <p:cNvPr id="6" name="Shape 4"/>
          <p:cNvSpPr/>
          <p:nvPr/>
        </p:nvSpPr>
        <p:spPr>
          <a:xfrm>
            <a:off x="640080" y="2834640"/>
            <a:ext cx="3520440" cy="2194560"/>
          </a:xfrm>
          <a:prstGeom prst="roundRect">
            <a:avLst/>
          </a:prstGeom>
          <a:solidFill>
            <a:srgbClr val="FFFFFF"/>
          </a:solidFill>
          <a:ln w="12700">
            <a:solidFill>
              <a:srgbClr val="E5E3ED"/>
            </a:solidFill>
            <a:prstDash val="solid"/>
          </a:ln>
        </p:spPr>
      </p:sp>
      <p:sp>
        <p:nvSpPr>
          <p:cNvPr id="7" name="Text 5"/>
          <p:cNvSpPr/>
          <p:nvPr/>
        </p:nvSpPr>
        <p:spPr>
          <a:xfrm>
            <a:off x="868680" y="3108960"/>
            <a:ext cx="3017520" cy="548640"/>
          </a:xfrm>
          <a:prstGeom prst="rect">
            <a:avLst/>
          </a:prstGeom>
          <a:noFill/>
          <a:ln/>
        </p:spPr>
        <p:txBody>
          <a:bodyPr wrap="square" lIns="0" tIns="0" rIns="0" bIns="0" rtlCol="0" anchor="ctr"/>
          <a:lstStyle/>
          <a:p>
            <a:pPr indent="0" marL="0">
              <a:buNone/>
            </a:pPr>
            <a:r>
              <a:rPr lang="en-US" sz="2300" b="1" dirty="0">
                <a:solidFill>
                  <a:srgbClr val="211D35"/>
                </a:solidFill>
                <a:latin typeface="Arial" pitchFamily="34" charset="0"/>
                <a:ea typeface="Arial" pitchFamily="34" charset="-122"/>
                <a:cs typeface="Arial" pitchFamily="34" charset="-120"/>
              </a:rPr>
              <a:t>Keep your entries</a:t>
            </a:r>
            <a:endParaRPr lang="en-US" sz="2300" dirty="0"/>
          </a:p>
        </p:txBody>
      </p:sp>
      <p:sp>
        <p:nvSpPr>
          <p:cNvPr id="8" name="Text 6"/>
          <p:cNvSpPr/>
          <p:nvPr/>
        </p:nvSpPr>
        <p:spPr>
          <a:xfrm>
            <a:off x="868680" y="3794760"/>
            <a:ext cx="3017520" cy="914400"/>
          </a:xfrm>
          <a:prstGeom prst="rect">
            <a:avLst/>
          </a:prstGeom>
          <a:noFill/>
          <a:ln/>
        </p:spPr>
        <p:txBody>
          <a:bodyPr wrap="square" lIns="0" tIns="0" rIns="0" bIns="0" rtlCol="0" anchor="ctr"/>
          <a:lstStyle/>
          <a:p>
            <a:pPr indent="0" marL="0">
              <a:buNone/>
            </a:pPr>
            <a:r>
              <a:rPr lang="en-US" sz="1800" dirty="0">
                <a:solidFill>
                  <a:srgbClr val="625E73"/>
                </a:solidFill>
                <a:latin typeface="Arial" pitchFamily="34" charset="0"/>
                <a:ea typeface="Arial" pitchFamily="34" charset="-122"/>
                <a:cs typeface="Arial" pitchFamily="34" charset="-120"/>
              </a:rPr>
              <a:t>A timeout may occur after the server saved the action.</a:t>
            </a:r>
            <a:endParaRPr lang="en-US" sz="1800" dirty="0"/>
          </a:p>
        </p:txBody>
      </p:sp>
      <p:sp>
        <p:nvSpPr>
          <p:cNvPr id="9" name="Shape 7"/>
          <p:cNvSpPr/>
          <p:nvPr/>
        </p:nvSpPr>
        <p:spPr>
          <a:xfrm>
            <a:off x="4389120" y="2834640"/>
            <a:ext cx="3520440" cy="2194560"/>
          </a:xfrm>
          <a:prstGeom prst="roundRect">
            <a:avLst/>
          </a:prstGeom>
          <a:solidFill>
            <a:srgbClr val="241747"/>
          </a:solidFill>
          <a:ln w="12700">
            <a:solidFill>
              <a:srgbClr val="E5E3ED"/>
            </a:solidFill>
            <a:prstDash val="solid"/>
          </a:ln>
        </p:spPr>
      </p:sp>
      <p:sp>
        <p:nvSpPr>
          <p:cNvPr id="10" name="Text 8"/>
          <p:cNvSpPr/>
          <p:nvPr/>
        </p:nvSpPr>
        <p:spPr>
          <a:xfrm>
            <a:off x="4617720" y="3108960"/>
            <a:ext cx="3017520" cy="54864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Retry the same attempt</a:t>
            </a:r>
            <a:endParaRPr lang="en-US" sz="2300" dirty="0"/>
          </a:p>
        </p:txBody>
      </p:sp>
      <p:sp>
        <p:nvSpPr>
          <p:cNvPr id="11" name="Text 9"/>
          <p:cNvSpPr/>
          <p:nvPr/>
        </p:nvSpPr>
        <p:spPr>
          <a:xfrm>
            <a:off x="4617720" y="3794760"/>
            <a:ext cx="3017520" cy="914400"/>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The existing key protects retries of unchanged content.</a:t>
            </a:r>
            <a:endParaRPr lang="en-US" sz="1800" dirty="0"/>
          </a:p>
        </p:txBody>
      </p:sp>
      <p:sp>
        <p:nvSpPr>
          <p:cNvPr id="12" name="Shape 10"/>
          <p:cNvSpPr/>
          <p:nvPr/>
        </p:nvSpPr>
        <p:spPr>
          <a:xfrm>
            <a:off x="8138160" y="2834640"/>
            <a:ext cx="3520440" cy="2194560"/>
          </a:xfrm>
          <a:prstGeom prst="roundRect">
            <a:avLst/>
          </a:prstGeom>
          <a:solidFill>
            <a:srgbClr val="FFFFFF"/>
          </a:solidFill>
          <a:ln w="12700">
            <a:solidFill>
              <a:srgbClr val="E5E3ED"/>
            </a:solidFill>
            <a:prstDash val="solid"/>
          </a:ln>
        </p:spPr>
      </p:sp>
      <p:sp>
        <p:nvSpPr>
          <p:cNvPr id="13" name="Text 11"/>
          <p:cNvSpPr/>
          <p:nvPr/>
        </p:nvSpPr>
        <p:spPr>
          <a:xfrm>
            <a:off x="8366760" y="3108960"/>
            <a:ext cx="3017520" cy="548640"/>
          </a:xfrm>
          <a:prstGeom prst="rect">
            <a:avLst/>
          </a:prstGeom>
          <a:noFill/>
          <a:ln/>
        </p:spPr>
        <p:txBody>
          <a:bodyPr wrap="square" lIns="0" tIns="0" rIns="0" bIns="0" rtlCol="0" anchor="ctr"/>
          <a:lstStyle/>
          <a:p>
            <a:pPr indent="0" marL="0">
              <a:buNone/>
            </a:pPr>
            <a:r>
              <a:rPr lang="en-US" sz="2300" b="1" dirty="0">
                <a:solidFill>
                  <a:srgbClr val="211D35"/>
                </a:solidFill>
                <a:latin typeface="Arial" pitchFamily="34" charset="0"/>
                <a:ea typeface="Arial" pitchFamily="34" charset="-122"/>
                <a:cs typeface="Arial" pitchFamily="34" charset="-120"/>
              </a:rPr>
              <a:t>Review the history</a:t>
            </a:r>
            <a:endParaRPr lang="en-US" sz="2300" dirty="0"/>
          </a:p>
        </p:txBody>
      </p:sp>
      <p:sp>
        <p:nvSpPr>
          <p:cNvPr id="14" name="Text 12"/>
          <p:cNvSpPr/>
          <p:nvPr/>
        </p:nvSpPr>
        <p:spPr>
          <a:xfrm>
            <a:off x="8366760" y="3794760"/>
            <a:ext cx="3017520" cy="914400"/>
          </a:xfrm>
          <a:prstGeom prst="rect">
            <a:avLst/>
          </a:prstGeom>
          <a:noFill/>
          <a:ln/>
        </p:spPr>
        <p:txBody>
          <a:bodyPr wrap="square" lIns="0" tIns="0" rIns="0" bIns="0" rtlCol="0" anchor="ctr"/>
          <a:lstStyle/>
          <a:p>
            <a:pPr indent="0" marL="0">
              <a:buNone/>
            </a:pPr>
            <a:r>
              <a:rPr lang="en-US" sz="1800" dirty="0">
                <a:solidFill>
                  <a:srgbClr val="625E73"/>
                </a:solidFill>
                <a:latin typeface="Arial" pitchFamily="34" charset="0"/>
                <a:ea typeface="Arial" pitchFamily="34" charset="-122"/>
                <a:cs typeface="Arial" pitchFamily="34" charset="-120"/>
              </a:rPr>
              <a:t>Confirm what was received before explicitly discarding uncertain attempts.</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A"/>
        </a:solidFill>
      </p:bgPr>
    </p:bg>
    <p:spTree>
      <p:nvGrpSpPr>
        <p:cNvPr id="1" name=""/>
        <p:cNvGrpSpPr/>
        <p:nvPr/>
      </p:nvGrpSpPr>
      <p:grpSpPr>
        <a:xfrm>
          <a:off x="0" y="0"/>
          <a:ext cx="0" cy="0"/>
          <a:chOff x="0" y="0"/>
          <a:chExt cx="0" cy="0"/>
        </a:xfrm>
      </p:grpSpPr>
      <p:sp>
        <p:nvSpPr>
          <p:cNvPr id="2" name="Text 0"/>
          <p:cNvSpPr/>
          <p:nvPr/>
        </p:nvSpPr>
        <p:spPr>
          <a:xfrm>
            <a:off x="594360" y="320040"/>
            <a:ext cx="8229600" cy="274320"/>
          </a:xfrm>
          <a:prstGeom prst="rect">
            <a:avLst/>
          </a:prstGeom>
          <a:noFill/>
          <a:ln/>
        </p:spPr>
        <p:txBody>
          <a:bodyPr wrap="square" lIns="0" tIns="0" rIns="0" bIns="0" rtlCol="0" anchor="ctr"/>
          <a:lstStyle/>
          <a:p>
            <a:pPr indent="0" marL="0">
              <a:buNone/>
            </a:pPr>
            <a:r>
              <a:rPr lang="en-US" sz="1300" b="1" dirty="0">
                <a:solidFill>
                  <a:srgbClr val="6D28D9"/>
                </a:solidFill>
                <a:latin typeface="Arial" pitchFamily="34" charset="0"/>
                <a:ea typeface="Arial" pitchFamily="34" charset="-122"/>
                <a:cs typeface="Arial" pitchFamily="34" charset="-120"/>
              </a:rPr>
              <a:t>Rescue Reports</a:t>
            </a:r>
            <a:endParaRPr lang="en-US" sz="1300" dirty="0"/>
          </a:p>
        </p:txBody>
      </p:sp>
      <p:sp>
        <p:nvSpPr>
          <p:cNvPr id="3" name="Text 1"/>
          <p:cNvSpPr/>
          <p:nvPr/>
        </p:nvSpPr>
        <p:spPr>
          <a:xfrm>
            <a:off x="10972800" y="320040"/>
            <a:ext cx="594360" cy="274320"/>
          </a:xfrm>
          <a:prstGeom prst="rect">
            <a:avLst/>
          </a:prstGeom>
          <a:noFill/>
          <a:ln/>
        </p:spPr>
        <p:txBody>
          <a:bodyPr wrap="square" lIns="0" tIns="0" rIns="0" bIns="0" rtlCol="0" anchor="ctr"/>
          <a:lstStyle/>
          <a:p>
            <a:pPr indent="0" marL="0">
              <a:buNone/>
            </a:pPr>
            <a:r>
              <a:rPr lang="en-US" sz="1200" dirty="0">
                <a:solidFill>
                  <a:srgbClr val="625E73"/>
                </a:solidFill>
                <a:latin typeface="Arial" pitchFamily="34" charset="0"/>
                <a:ea typeface="Arial" pitchFamily="34" charset="-122"/>
                <a:cs typeface="Arial" pitchFamily="34" charset="-120"/>
              </a:rPr>
              <a:t>06</a:t>
            </a:r>
            <a:endParaRPr lang="en-US" sz="1200" dirty="0"/>
          </a:p>
        </p:txBody>
      </p:sp>
      <p:sp>
        <p:nvSpPr>
          <p:cNvPr id="4" name="Text 2"/>
          <p:cNvSpPr/>
          <p:nvPr/>
        </p:nvSpPr>
        <p:spPr>
          <a:xfrm>
            <a:off x="594360" y="868680"/>
            <a:ext cx="10972800" cy="1051560"/>
          </a:xfrm>
          <a:prstGeom prst="rect">
            <a:avLst/>
          </a:prstGeom>
          <a:noFill/>
          <a:ln/>
        </p:spPr>
        <p:txBody>
          <a:bodyPr wrap="square" lIns="0" tIns="0" rIns="0" bIns="0" rtlCol="0" anchor="ctr"/>
          <a:lstStyle/>
          <a:p>
            <a:pPr indent="0" marL="0">
              <a:buNone/>
            </a:pPr>
            <a:r>
              <a:rPr lang="en-US" sz="3600" b="1" dirty="0">
                <a:solidFill>
                  <a:srgbClr val="211D35"/>
                </a:solidFill>
                <a:latin typeface="Arial" pitchFamily="34" charset="0"/>
                <a:ea typeface="Arial" pitchFamily="34" charset="-122"/>
                <a:cs typeface="Arial" pitchFamily="34" charset="-120"/>
              </a:rPr>
              <a:t>Follow reports and notifications</a:t>
            </a:r>
            <a:endParaRPr lang="en-US" sz="3600" dirty="0"/>
          </a:p>
        </p:txBody>
      </p:sp>
      <p:sp>
        <p:nvSpPr>
          <p:cNvPr id="5" name="Text 3"/>
          <p:cNvSpPr/>
          <p:nvPr/>
        </p:nvSpPr>
        <p:spPr>
          <a:xfrm>
            <a:off x="594360" y="1874520"/>
            <a:ext cx="10881360" cy="594360"/>
          </a:xfrm>
          <a:prstGeom prst="rect">
            <a:avLst/>
          </a:prstGeom>
          <a:noFill/>
          <a:ln/>
        </p:spPr>
        <p:txBody>
          <a:bodyPr wrap="square" lIns="0" tIns="0" rIns="0" bIns="0" rtlCol="0" anchor="ctr"/>
          <a:lstStyle/>
          <a:p>
            <a:pPr indent="0" marL="0">
              <a:buNone/>
            </a:pPr>
            <a:r>
              <a:rPr lang="en-US" sz="1600" dirty="0">
                <a:solidFill>
                  <a:srgbClr val="625E73"/>
                </a:solidFill>
                <a:latin typeface="Arial" pitchFamily="34" charset="0"/>
                <a:ea typeface="Arial" pitchFamily="34" charset="-122"/>
                <a:cs typeface="Arial" pitchFamily="34" charset="-120"/>
              </a:rPr>
              <a:t>Status history and in-app notifications explain the next step.</a:t>
            </a:r>
            <a:endParaRPr lang="en-US" sz="1600" dirty="0"/>
          </a:p>
        </p:txBody>
      </p:sp>
      <p:sp>
        <p:nvSpPr>
          <p:cNvPr id="6" name="Text 4"/>
          <p:cNvSpPr/>
          <p:nvPr/>
        </p:nvSpPr>
        <p:spPr>
          <a:xfrm>
            <a:off x="640080" y="25603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01</a:t>
            </a:r>
            <a:endParaRPr lang="en-US" sz="1600" dirty="0"/>
          </a:p>
        </p:txBody>
      </p:sp>
      <p:sp>
        <p:nvSpPr>
          <p:cNvPr id="7" name="Text 5"/>
          <p:cNvSpPr/>
          <p:nvPr/>
        </p:nvSpPr>
        <p:spPr>
          <a:xfrm>
            <a:off x="1234440" y="25603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My Reports separates active and historical reports.</a:t>
            </a:r>
            <a:endParaRPr lang="en-US" sz="1900" dirty="0"/>
          </a:p>
        </p:txBody>
      </p:sp>
      <p:sp>
        <p:nvSpPr>
          <p:cNvPr id="8" name="Text 6"/>
          <p:cNvSpPr/>
          <p:nvPr/>
        </p:nvSpPr>
        <p:spPr>
          <a:xfrm>
            <a:off x="640080" y="32461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02</a:t>
            </a:r>
            <a:endParaRPr lang="en-US" sz="1600" dirty="0"/>
          </a:p>
        </p:txBody>
      </p:sp>
      <p:sp>
        <p:nvSpPr>
          <p:cNvPr id="9" name="Text 7"/>
          <p:cNvSpPr/>
          <p:nvPr/>
        </p:nvSpPr>
        <p:spPr>
          <a:xfrm>
            <a:off x="1234440" y="32461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Open a report for status and progress history.</a:t>
            </a:r>
            <a:endParaRPr lang="en-US" sz="1900" dirty="0"/>
          </a:p>
        </p:txBody>
      </p:sp>
      <p:sp>
        <p:nvSpPr>
          <p:cNvPr id="10" name="Text 8"/>
          <p:cNvSpPr/>
          <p:nvPr/>
        </p:nvSpPr>
        <p:spPr>
          <a:xfrm>
            <a:off x="640080" y="39319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03</a:t>
            </a:r>
            <a:endParaRPr lang="en-US" sz="1600" dirty="0"/>
          </a:p>
        </p:txBody>
      </p:sp>
      <p:sp>
        <p:nvSpPr>
          <p:cNvPr id="11" name="Text 9"/>
          <p:cNvSpPr/>
          <p:nvPr/>
        </p:nvSpPr>
        <p:spPr>
          <a:xfrm>
            <a:off x="1234440" y="39319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Use the bell to open resident notifications.</a:t>
            </a:r>
            <a:endParaRPr lang="en-US" sz="1900" dirty="0"/>
          </a:p>
        </p:txBody>
      </p:sp>
      <p:sp>
        <p:nvSpPr>
          <p:cNvPr id="12" name="Text 10"/>
          <p:cNvSpPr/>
          <p:nvPr/>
        </p:nvSpPr>
        <p:spPr>
          <a:xfrm>
            <a:off x="640080" y="46177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04</a:t>
            </a:r>
            <a:endParaRPr lang="en-US" sz="1600" dirty="0"/>
          </a:p>
        </p:txBody>
      </p:sp>
      <p:sp>
        <p:nvSpPr>
          <p:cNvPr id="13" name="Text 11"/>
          <p:cNvSpPr/>
          <p:nvPr/>
        </p:nvSpPr>
        <p:spPr>
          <a:xfrm>
            <a:off x="1234440" y="46177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Push failure does not remove in-app notifications.</a:t>
            </a:r>
            <a:endParaRPr lang="en-US" sz="1900" dirty="0"/>
          </a:p>
        </p:txBody>
      </p:sp>
      <p:pic>
        <p:nvPicPr>
          <p:cNvPr id="14" name="Image 0" descr="/private/tmp/rescue-release-integration-2026-10-18/docs/user-guide/images/notifications-390.png">    </p:cNvPr>
          <p:cNvPicPr>
            <a:picLocks noChangeAspect="1"/>
          </p:cNvPicPr>
          <p:nvPr/>
        </p:nvPicPr>
        <p:blipFill>
          <a:blip r:embed="rId1"/>
          <a:stretch>
            <a:fillRect/>
          </a:stretch>
        </p:blipFill>
        <p:spPr>
          <a:xfrm>
            <a:off x="8503920" y="1463040"/>
            <a:ext cx="2148840" cy="464515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A"/>
        </a:solidFill>
      </p:bgPr>
    </p:bg>
    <p:spTree>
      <p:nvGrpSpPr>
        <p:cNvPr id="1" name=""/>
        <p:cNvGrpSpPr/>
        <p:nvPr/>
      </p:nvGrpSpPr>
      <p:grpSpPr>
        <a:xfrm>
          <a:off x="0" y="0"/>
          <a:ext cx="0" cy="0"/>
          <a:chOff x="0" y="0"/>
          <a:chExt cx="0" cy="0"/>
        </a:xfrm>
      </p:grpSpPr>
      <p:sp>
        <p:nvSpPr>
          <p:cNvPr id="2" name="Text 0"/>
          <p:cNvSpPr/>
          <p:nvPr/>
        </p:nvSpPr>
        <p:spPr>
          <a:xfrm>
            <a:off x="594360" y="320040"/>
            <a:ext cx="8229600" cy="274320"/>
          </a:xfrm>
          <a:prstGeom prst="rect">
            <a:avLst/>
          </a:prstGeom>
          <a:noFill/>
          <a:ln/>
        </p:spPr>
        <p:txBody>
          <a:bodyPr wrap="square" lIns="0" tIns="0" rIns="0" bIns="0" rtlCol="0" anchor="ctr"/>
          <a:lstStyle/>
          <a:p>
            <a:pPr indent="0" marL="0">
              <a:buNone/>
            </a:pPr>
            <a:r>
              <a:rPr lang="en-US" sz="1300" b="1" dirty="0">
                <a:solidFill>
                  <a:srgbClr val="6D28D9"/>
                </a:solidFill>
                <a:latin typeface="Arial" pitchFamily="34" charset="0"/>
                <a:ea typeface="Arial" pitchFamily="34" charset="-122"/>
                <a:cs typeface="Arial" pitchFamily="34" charset="-120"/>
              </a:rPr>
              <a:t>Rescue Reports</a:t>
            </a:r>
            <a:endParaRPr lang="en-US" sz="1300" dirty="0"/>
          </a:p>
        </p:txBody>
      </p:sp>
      <p:sp>
        <p:nvSpPr>
          <p:cNvPr id="3" name="Text 1"/>
          <p:cNvSpPr/>
          <p:nvPr/>
        </p:nvSpPr>
        <p:spPr>
          <a:xfrm>
            <a:off x="10972800" y="320040"/>
            <a:ext cx="594360" cy="274320"/>
          </a:xfrm>
          <a:prstGeom prst="rect">
            <a:avLst/>
          </a:prstGeom>
          <a:noFill/>
          <a:ln/>
        </p:spPr>
        <p:txBody>
          <a:bodyPr wrap="square" lIns="0" tIns="0" rIns="0" bIns="0" rtlCol="0" anchor="ctr"/>
          <a:lstStyle/>
          <a:p>
            <a:pPr indent="0" marL="0">
              <a:buNone/>
            </a:pPr>
            <a:r>
              <a:rPr lang="en-US" sz="1200" dirty="0">
                <a:solidFill>
                  <a:srgbClr val="625E73"/>
                </a:solidFill>
                <a:latin typeface="Arial" pitchFamily="34" charset="0"/>
                <a:ea typeface="Arial" pitchFamily="34" charset="-122"/>
                <a:cs typeface="Arial" pitchFamily="34" charset="-120"/>
              </a:rPr>
              <a:t>07</a:t>
            </a:r>
            <a:endParaRPr lang="en-US" sz="1200" dirty="0"/>
          </a:p>
        </p:txBody>
      </p:sp>
      <p:sp>
        <p:nvSpPr>
          <p:cNvPr id="4" name="Text 2"/>
          <p:cNvSpPr/>
          <p:nvPr/>
        </p:nvSpPr>
        <p:spPr>
          <a:xfrm>
            <a:off x="594360" y="868680"/>
            <a:ext cx="10972800" cy="1051560"/>
          </a:xfrm>
          <a:prstGeom prst="rect">
            <a:avLst/>
          </a:prstGeom>
          <a:noFill/>
          <a:ln/>
        </p:spPr>
        <p:txBody>
          <a:bodyPr wrap="square" lIns="0" tIns="0" rIns="0" bIns="0" rtlCol="0" anchor="ctr"/>
          <a:lstStyle/>
          <a:p>
            <a:pPr indent="0" marL="0">
              <a:buNone/>
            </a:pPr>
            <a:r>
              <a:rPr lang="en-US" sz="3600" b="1" dirty="0">
                <a:solidFill>
                  <a:srgbClr val="211D35"/>
                </a:solidFill>
                <a:latin typeface="Arial" pitchFamily="34" charset="0"/>
                <a:ea typeface="Arial" pitchFamily="34" charset="-122"/>
                <a:cs typeface="Arial" pitchFamily="34" charset="-120"/>
              </a:rPr>
              <a:t>Review your assignments</a:t>
            </a:r>
            <a:endParaRPr lang="en-US" sz="3600" dirty="0"/>
          </a:p>
        </p:txBody>
      </p:sp>
      <p:sp>
        <p:nvSpPr>
          <p:cNvPr id="5" name="Text 3"/>
          <p:cNvSpPr/>
          <p:nvPr/>
        </p:nvSpPr>
        <p:spPr>
          <a:xfrm>
            <a:off x="594360" y="1874520"/>
            <a:ext cx="10881360" cy="594360"/>
          </a:xfrm>
          <a:prstGeom prst="rect">
            <a:avLst/>
          </a:prstGeom>
          <a:noFill/>
          <a:ln/>
        </p:spPr>
        <p:txBody>
          <a:bodyPr wrap="square" lIns="0" tIns="0" rIns="0" bIns="0" rtlCol="0" anchor="ctr"/>
          <a:lstStyle/>
          <a:p>
            <a:pPr indent="0" marL="0">
              <a:buNone/>
            </a:pPr>
            <a:r>
              <a:rPr lang="en-US" sz="1600" dirty="0">
                <a:solidFill>
                  <a:srgbClr val="625E73"/>
                </a:solidFill>
                <a:latin typeface="Arial" pitchFamily="34" charset="0"/>
                <a:ea typeface="Arial" pitchFamily="34" charset="-122"/>
                <a:cs typeface="Arial" pitchFamily="34" charset="-120"/>
              </a:rPr>
              <a:t>Responders see work assigned to their current team.</a:t>
            </a:r>
            <a:endParaRPr lang="en-US" sz="1600" dirty="0"/>
          </a:p>
        </p:txBody>
      </p:sp>
      <p:sp>
        <p:nvSpPr>
          <p:cNvPr id="6" name="Text 4"/>
          <p:cNvSpPr/>
          <p:nvPr/>
        </p:nvSpPr>
        <p:spPr>
          <a:xfrm>
            <a:off x="640080" y="25603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01</a:t>
            </a:r>
            <a:endParaRPr lang="en-US" sz="1600" dirty="0"/>
          </a:p>
        </p:txBody>
      </p:sp>
      <p:sp>
        <p:nvSpPr>
          <p:cNvPr id="7" name="Text 5"/>
          <p:cNvSpPr/>
          <p:nvPr/>
        </p:nvSpPr>
        <p:spPr>
          <a:xfrm>
            <a:off x="1234440" y="25603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Open Assigned → Active.</a:t>
            </a:r>
            <a:endParaRPr lang="en-US" sz="1900" dirty="0"/>
          </a:p>
        </p:txBody>
      </p:sp>
      <p:sp>
        <p:nvSpPr>
          <p:cNvPr id="8" name="Text 6"/>
          <p:cNvSpPr/>
          <p:nvPr/>
        </p:nvSpPr>
        <p:spPr>
          <a:xfrm>
            <a:off x="640080" y="32461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02</a:t>
            </a:r>
            <a:endParaRPr lang="en-US" sz="1600" dirty="0"/>
          </a:p>
        </p:txBody>
      </p:sp>
      <p:sp>
        <p:nvSpPr>
          <p:cNvPr id="9" name="Text 7"/>
          <p:cNvSpPr/>
          <p:nvPr/>
        </p:nvSpPr>
        <p:spPr>
          <a:xfrm>
            <a:off x="1234440" y="32461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Review the incident and its location.</a:t>
            </a:r>
            <a:endParaRPr lang="en-US" sz="1900" dirty="0"/>
          </a:p>
        </p:txBody>
      </p:sp>
      <p:sp>
        <p:nvSpPr>
          <p:cNvPr id="10" name="Text 8"/>
          <p:cNvSpPr/>
          <p:nvPr/>
        </p:nvSpPr>
        <p:spPr>
          <a:xfrm>
            <a:off x="640080" y="39319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03</a:t>
            </a:r>
            <a:endParaRPr lang="en-US" sz="1600" dirty="0"/>
          </a:p>
        </p:txBody>
      </p:sp>
      <p:sp>
        <p:nvSpPr>
          <p:cNvPr id="11" name="Text 9"/>
          <p:cNvSpPr/>
          <p:nvPr/>
        </p:nvSpPr>
        <p:spPr>
          <a:xfrm>
            <a:off x="1234440" y="39319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Acknowledge the assignment.</a:t>
            </a:r>
            <a:endParaRPr lang="en-US" sz="1900" dirty="0"/>
          </a:p>
        </p:txBody>
      </p:sp>
      <p:sp>
        <p:nvSpPr>
          <p:cNvPr id="12" name="Text 10"/>
          <p:cNvSpPr/>
          <p:nvPr/>
        </p:nvSpPr>
        <p:spPr>
          <a:xfrm>
            <a:off x="640080" y="46177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04</a:t>
            </a:r>
            <a:endParaRPr lang="en-US" sz="1600" dirty="0"/>
          </a:p>
        </p:txBody>
      </p:sp>
      <p:sp>
        <p:nvSpPr>
          <p:cNvPr id="13" name="Text 11"/>
          <p:cNvSpPr/>
          <p:nvPr/>
        </p:nvSpPr>
        <p:spPr>
          <a:xfrm>
            <a:off x="1234440" y="46177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Open the map handler when needed.</a:t>
            </a:r>
            <a:endParaRPr lang="en-US" sz="1900" dirty="0"/>
          </a:p>
        </p:txBody>
      </p:sp>
      <p:pic>
        <p:nvPicPr>
          <p:cNvPr id="14" name="Image 0" descr="/private/tmp/rescue-release-integration-2026-10-18/docs/user-guide/images/assigned-390.png">    </p:cNvPr>
          <p:cNvPicPr>
            <a:picLocks noChangeAspect="1"/>
          </p:cNvPicPr>
          <p:nvPr/>
        </p:nvPicPr>
        <p:blipFill>
          <a:blip r:embed="rId1"/>
          <a:stretch>
            <a:fillRect/>
          </a:stretch>
        </p:blipFill>
        <p:spPr>
          <a:xfrm>
            <a:off x="8503920" y="1463040"/>
            <a:ext cx="2148840" cy="464515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A"/>
        </a:solidFill>
      </p:bgPr>
    </p:bg>
    <p:spTree>
      <p:nvGrpSpPr>
        <p:cNvPr id="1" name=""/>
        <p:cNvGrpSpPr/>
        <p:nvPr/>
      </p:nvGrpSpPr>
      <p:grpSpPr>
        <a:xfrm>
          <a:off x="0" y="0"/>
          <a:ext cx="0" cy="0"/>
          <a:chOff x="0" y="0"/>
          <a:chExt cx="0" cy="0"/>
        </a:xfrm>
      </p:grpSpPr>
      <p:sp>
        <p:nvSpPr>
          <p:cNvPr id="2" name="Text 0"/>
          <p:cNvSpPr/>
          <p:nvPr/>
        </p:nvSpPr>
        <p:spPr>
          <a:xfrm>
            <a:off x="594360" y="320040"/>
            <a:ext cx="8229600" cy="274320"/>
          </a:xfrm>
          <a:prstGeom prst="rect">
            <a:avLst/>
          </a:prstGeom>
          <a:noFill/>
          <a:ln/>
        </p:spPr>
        <p:txBody>
          <a:bodyPr wrap="square" lIns="0" tIns="0" rIns="0" bIns="0" rtlCol="0" anchor="ctr"/>
          <a:lstStyle/>
          <a:p>
            <a:pPr indent="0" marL="0">
              <a:buNone/>
            </a:pPr>
            <a:r>
              <a:rPr lang="en-US" sz="1300" b="1" dirty="0">
                <a:solidFill>
                  <a:srgbClr val="6D28D9"/>
                </a:solidFill>
                <a:latin typeface="Arial" pitchFamily="34" charset="0"/>
                <a:ea typeface="Arial" pitchFamily="34" charset="-122"/>
                <a:cs typeface="Arial" pitchFamily="34" charset="-120"/>
              </a:rPr>
              <a:t>Rescue Reports</a:t>
            </a:r>
            <a:endParaRPr lang="en-US" sz="1300" dirty="0"/>
          </a:p>
        </p:txBody>
      </p:sp>
      <p:sp>
        <p:nvSpPr>
          <p:cNvPr id="3" name="Text 1"/>
          <p:cNvSpPr/>
          <p:nvPr/>
        </p:nvSpPr>
        <p:spPr>
          <a:xfrm>
            <a:off x="10972800" y="320040"/>
            <a:ext cx="594360" cy="274320"/>
          </a:xfrm>
          <a:prstGeom prst="rect">
            <a:avLst/>
          </a:prstGeom>
          <a:noFill/>
          <a:ln/>
        </p:spPr>
        <p:txBody>
          <a:bodyPr wrap="square" lIns="0" tIns="0" rIns="0" bIns="0" rtlCol="0" anchor="ctr"/>
          <a:lstStyle/>
          <a:p>
            <a:pPr indent="0" marL="0">
              <a:buNone/>
            </a:pPr>
            <a:r>
              <a:rPr lang="en-US" sz="1200" dirty="0">
                <a:solidFill>
                  <a:srgbClr val="625E73"/>
                </a:solidFill>
                <a:latin typeface="Arial" pitchFamily="34" charset="0"/>
                <a:ea typeface="Arial" pitchFamily="34" charset="-122"/>
                <a:cs typeface="Arial" pitchFamily="34" charset="-120"/>
              </a:rPr>
              <a:t>08</a:t>
            </a:r>
            <a:endParaRPr lang="en-US" sz="1200" dirty="0"/>
          </a:p>
        </p:txBody>
      </p:sp>
      <p:sp>
        <p:nvSpPr>
          <p:cNvPr id="4" name="Text 2"/>
          <p:cNvSpPr/>
          <p:nvPr/>
        </p:nvSpPr>
        <p:spPr>
          <a:xfrm>
            <a:off x="594360" y="868680"/>
            <a:ext cx="10972800" cy="1051560"/>
          </a:xfrm>
          <a:prstGeom prst="rect">
            <a:avLst/>
          </a:prstGeom>
          <a:noFill/>
          <a:ln/>
        </p:spPr>
        <p:txBody>
          <a:bodyPr wrap="square" lIns="0" tIns="0" rIns="0" bIns="0" rtlCol="0" anchor="ctr"/>
          <a:lstStyle/>
          <a:p>
            <a:pPr indent="0" marL="0">
              <a:buNone/>
            </a:pPr>
            <a:r>
              <a:rPr lang="en-US" sz="3600" b="1" dirty="0">
                <a:solidFill>
                  <a:srgbClr val="211D35"/>
                </a:solidFill>
                <a:latin typeface="Arial" pitchFamily="34" charset="0"/>
                <a:ea typeface="Arial" pitchFamily="34" charset="-122"/>
                <a:cs typeface="Arial" pitchFamily="34" charset="-120"/>
              </a:rPr>
              <a:t>Record an operation update</a:t>
            </a:r>
            <a:endParaRPr lang="en-US" sz="3600" dirty="0"/>
          </a:p>
        </p:txBody>
      </p:sp>
      <p:sp>
        <p:nvSpPr>
          <p:cNvPr id="5" name="Text 3"/>
          <p:cNvSpPr/>
          <p:nvPr/>
        </p:nvSpPr>
        <p:spPr>
          <a:xfrm>
            <a:off x="594360" y="1874520"/>
            <a:ext cx="10881360" cy="594360"/>
          </a:xfrm>
          <a:prstGeom prst="rect">
            <a:avLst/>
          </a:prstGeom>
          <a:noFill/>
          <a:ln/>
        </p:spPr>
        <p:txBody>
          <a:bodyPr wrap="square" lIns="0" tIns="0" rIns="0" bIns="0" rtlCol="0" anchor="ctr"/>
          <a:lstStyle/>
          <a:p>
            <a:pPr indent="0" marL="0">
              <a:buNone/>
            </a:pPr>
            <a:r>
              <a:rPr lang="en-US" sz="1600" dirty="0">
                <a:solidFill>
                  <a:srgbClr val="625E73"/>
                </a:solidFill>
                <a:latin typeface="Arial" pitchFamily="34" charset="0"/>
                <a:ea typeface="Arial" pitchFamily="34" charset="-122"/>
                <a:cs typeface="Arial" pitchFamily="34" charset="-120"/>
              </a:rPr>
              <a:t>Use required fields, then wait for confirmation.</a:t>
            </a:r>
            <a:endParaRPr lang="en-US" sz="1600" dirty="0"/>
          </a:p>
        </p:txBody>
      </p:sp>
      <p:sp>
        <p:nvSpPr>
          <p:cNvPr id="6" name="Text 4"/>
          <p:cNvSpPr/>
          <p:nvPr/>
        </p:nvSpPr>
        <p:spPr>
          <a:xfrm>
            <a:off x="640080" y="25603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01</a:t>
            </a:r>
            <a:endParaRPr lang="en-US" sz="1600" dirty="0"/>
          </a:p>
        </p:txBody>
      </p:sp>
      <p:sp>
        <p:nvSpPr>
          <p:cNvPr id="7" name="Text 5"/>
          <p:cNvSpPr/>
          <p:nvPr/>
        </p:nvSpPr>
        <p:spPr>
          <a:xfrm>
            <a:off x="1234440" y="25603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Choose an allowed status.</a:t>
            </a:r>
            <a:endParaRPr lang="en-US" sz="1900" dirty="0"/>
          </a:p>
        </p:txBody>
      </p:sp>
      <p:sp>
        <p:nvSpPr>
          <p:cNvPr id="8" name="Text 6"/>
          <p:cNvSpPr/>
          <p:nvPr/>
        </p:nvSpPr>
        <p:spPr>
          <a:xfrm>
            <a:off x="640080" y="32461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02</a:t>
            </a:r>
            <a:endParaRPr lang="en-US" sz="1600" dirty="0"/>
          </a:p>
        </p:txBody>
      </p:sp>
      <p:sp>
        <p:nvSpPr>
          <p:cNvPr id="9" name="Text 7"/>
          <p:cNvSpPr/>
          <p:nvPr/>
        </p:nvSpPr>
        <p:spPr>
          <a:xfrm>
            <a:off x="1234440" y="32461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Enter the number of people rescued.</a:t>
            </a:r>
            <a:endParaRPr lang="en-US" sz="1900" dirty="0"/>
          </a:p>
        </p:txBody>
      </p:sp>
      <p:sp>
        <p:nvSpPr>
          <p:cNvPr id="10" name="Text 8"/>
          <p:cNvSpPr/>
          <p:nvPr/>
        </p:nvSpPr>
        <p:spPr>
          <a:xfrm>
            <a:off x="640080" y="39319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03</a:t>
            </a:r>
            <a:endParaRPr lang="en-US" sz="1600" dirty="0"/>
          </a:p>
        </p:txBody>
      </p:sp>
      <p:sp>
        <p:nvSpPr>
          <p:cNvPr id="11" name="Text 9"/>
          <p:cNvSpPr/>
          <p:nvPr/>
        </p:nvSpPr>
        <p:spPr>
          <a:xfrm>
            <a:off x="1234440" y="39319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Add an optional factual note.</a:t>
            </a:r>
            <a:endParaRPr lang="en-US" sz="1900" dirty="0"/>
          </a:p>
        </p:txBody>
      </p:sp>
      <p:sp>
        <p:nvSpPr>
          <p:cNvPr id="12" name="Text 10"/>
          <p:cNvSpPr/>
          <p:nvPr/>
        </p:nvSpPr>
        <p:spPr>
          <a:xfrm>
            <a:off x="640080" y="46177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04</a:t>
            </a:r>
            <a:endParaRPr lang="en-US" sz="1600" dirty="0"/>
          </a:p>
        </p:txBody>
      </p:sp>
      <p:sp>
        <p:nvSpPr>
          <p:cNvPr id="13" name="Text 11"/>
          <p:cNvSpPr/>
          <p:nvPr/>
        </p:nvSpPr>
        <p:spPr>
          <a:xfrm>
            <a:off x="1234440" y="46177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Save and confirm the new progress-history entry.</a:t>
            </a:r>
            <a:endParaRPr lang="en-US" sz="1900" dirty="0"/>
          </a:p>
        </p:txBody>
      </p:sp>
      <p:pic>
        <p:nvPicPr>
          <p:cNvPr id="14" name="Image 0" descr="/private/tmp/rescue-release-integration-2026-10-18/docs/user-guide/images/update-390.png">    </p:cNvPr>
          <p:cNvPicPr>
            <a:picLocks noChangeAspect="1"/>
          </p:cNvPicPr>
          <p:nvPr/>
        </p:nvPicPr>
        <p:blipFill>
          <a:blip r:embed="rId1"/>
          <a:stretch>
            <a:fillRect/>
          </a:stretch>
        </p:blipFill>
        <p:spPr>
          <a:xfrm>
            <a:off x="8503920" y="1463040"/>
            <a:ext cx="2148840" cy="464515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A"/>
        </a:solidFill>
      </p:bgPr>
    </p:bg>
    <p:spTree>
      <p:nvGrpSpPr>
        <p:cNvPr id="1" name=""/>
        <p:cNvGrpSpPr/>
        <p:nvPr/>
      </p:nvGrpSpPr>
      <p:grpSpPr>
        <a:xfrm>
          <a:off x="0" y="0"/>
          <a:ext cx="0" cy="0"/>
          <a:chOff x="0" y="0"/>
          <a:chExt cx="0" cy="0"/>
        </a:xfrm>
      </p:grpSpPr>
      <p:sp>
        <p:nvSpPr>
          <p:cNvPr id="2" name="Text 0"/>
          <p:cNvSpPr/>
          <p:nvPr/>
        </p:nvSpPr>
        <p:spPr>
          <a:xfrm>
            <a:off x="594360" y="320040"/>
            <a:ext cx="8229600" cy="274320"/>
          </a:xfrm>
          <a:prstGeom prst="rect">
            <a:avLst/>
          </a:prstGeom>
          <a:noFill/>
          <a:ln/>
        </p:spPr>
        <p:txBody>
          <a:bodyPr wrap="square" lIns="0" tIns="0" rIns="0" bIns="0" rtlCol="0" anchor="ctr"/>
          <a:lstStyle/>
          <a:p>
            <a:pPr indent="0" marL="0">
              <a:buNone/>
            </a:pPr>
            <a:r>
              <a:rPr lang="en-US" sz="1300" b="1" dirty="0">
                <a:solidFill>
                  <a:srgbClr val="6D28D9"/>
                </a:solidFill>
                <a:latin typeface="Arial" pitchFamily="34" charset="0"/>
                <a:ea typeface="Arial" pitchFamily="34" charset="-122"/>
                <a:cs typeface="Arial" pitchFamily="34" charset="-120"/>
              </a:rPr>
              <a:t>Rescue Reports</a:t>
            </a:r>
            <a:endParaRPr lang="en-US" sz="1300" dirty="0"/>
          </a:p>
        </p:txBody>
      </p:sp>
      <p:sp>
        <p:nvSpPr>
          <p:cNvPr id="3" name="Text 1"/>
          <p:cNvSpPr/>
          <p:nvPr/>
        </p:nvSpPr>
        <p:spPr>
          <a:xfrm>
            <a:off x="10972800" y="320040"/>
            <a:ext cx="594360" cy="274320"/>
          </a:xfrm>
          <a:prstGeom prst="rect">
            <a:avLst/>
          </a:prstGeom>
          <a:noFill/>
          <a:ln/>
        </p:spPr>
        <p:txBody>
          <a:bodyPr wrap="square" lIns="0" tIns="0" rIns="0" bIns="0" rtlCol="0" anchor="ctr"/>
          <a:lstStyle/>
          <a:p>
            <a:pPr indent="0" marL="0">
              <a:buNone/>
            </a:pPr>
            <a:r>
              <a:rPr lang="en-US" sz="1200" dirty="0">
                <a:solidFill>
                  <a:srgbClr val="625E73"/>
                </a:solidFill>
                <a:latin typeface="Arial" pitchFamily="34" charset="0"/>
                <a:ea typeface="Arial" pitchFamily="34" charset="-122"/>
                <a:cs typeface="Arial" pitchFamily="34" charset="-120"/>
              </a:rPr>
              <a:t>09</a:t>
            </a:r>
            <a:endParaRPr lang="en-US" sz="1200" dirty="0"/>
          </a:p>
        </p:txBody>
      </p:sp>
      <p:sp>
        <p:nvSpPr>
          <p:cNvPr id="4" name="Text 2"/>
          <p:cNvSpPr/>
          <p:nvPr/>
        </p:nvSpPr>
        <p:spPr>
          <a:xfrm>
            <a:off x="594360" y="868680"/>
            <a:ext cx="10972800" cy="1051560"/>
          </a:xfrm>
          <a:prstGeom prst="rect">
            <a:avLst/>
          </a:prstGeom>
          <a:noFill/>
          <a:ln/>
        </p:spPr>
        <p:txBody>
          <a:bodyPr wrap="square" lIns="0" tIns="0" rIns="0" bIns="0" rtlCol="0" anchor="ctr"/>
          <a:lstStyle/>
          <a:p>
            <a:pPr indent="0" marL="0">
              <a:buNone/>
            </a:pPr>
            <a:r>
              <a:rPr lang="en-US" sz="3600" b="1" dirty="0">
                <a:solidFill>
                  <a:srgbClr val="211D35"/>
                </a:solidFill>
                <a:latin typeface="Arial" pitchFamily="34" charset="0"/>
                <a:ea typeface="Arial" pitchFamily="34" charset="-122"/>
                <a:cs typeface="Arial" pitchFamily="34" charset="-120"/>
              </a:rPr>
              <a:t>Read progress history</a:t>
            </a:r>
            <a:endParaRPr lang="en-US" sz="3600" dirty="0"/>
          </a:p>
        </p:txBody>
      </p:sp>
      <p:sp>
        <p:nvSpPr>
          <p:cNvPr id="5" name="Text 3"/>
          <p:cNvSpPr/>
          <p:nvPr/>
        </p:nvSpPr>
        <p:spPr>
          <a:xfrm>
            <a:off x="594360" y="1874520"/>
            <a:ext cx="10881360" cy="594360"/>
          </a:xfrm>
          <a:prstGeom prst="rect">
            <a:avLst/>
          </a:prstGeom>
          <a:noFill/>
          <a:ln/>
        </p:spPr>
        <p:txBody>
          <a:bodyPr wrap="square" lIns="0" tIns="0" rIns="0" bIns="0" rtlCol="0" anchor="ctr"/>
          <a:lstStyle/>
          <a:p>
            <a:pPr indent="0" marL="0">
              <a:buNone/>
            </a:pPr>
            <a:r>
              <a:rPr lang="en-US" sz="1600" dirty="0">
                <a:solidFill>
                  <a:srgbClr val="625E73"/>
                </a:solidFill>
                <a:latin typeface="Arial" pitchFamily="34" charset="0"/>
                <a:ea typeface="Arial" pitchFamily="34" charset="-122"/>
                <a:cs typeface="Arial" pitchFamily="34" charset="-120"/>
              </a:rPr>
              <a:t>Show more reveals entries; Load older fetches the next window.</a:t>
            </a:r>
            <a:endParaRPr lang="en-US" sz="1600" dirty="0"/>
          </a:p>
        </p:txBody>
      </p:sp>
      <p:sp>
        <p:nvSpPr>
          <p:cNvPr id="6" name="Text 4"/>
          <p:cNvSpPr/>
          <p:nvPr/>
        </p:nvSpPr>
        <p:spPr>
          <a:xfrm>
            <a:off x="640080" y="25603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01</a:t>
            </a:r>
            <a:endParaRPr lang="en-US" sz="1600" dirty="0"/>
          </a:p>
        </p:txBody>
      </p:sp>
      <p:sp>
        <p:nvSpPr>
          <p:cNvPr id="7" name="Text 5"/>
          <p:cNvSpPr/>
          <p:nvPr/>
        </p:nvSpPr>
        <p:spPr>
          <a:xfrm>
            <a:off x="1234440" y="25603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The newest 20 entries are fetched first.</a:t>
            </a:r>
            <a:endParaRPr lang="en-US" sz="1900" dirty="0"/>
          </a:p>
        </p:txBody>
      </p:sp>
      <p:sp>
        <p:nvSpPr>
          <p:cNvPr id="8" name="Text 6"/>
          <p:cNvSpPr/>
          <p:nvPr/>
        </p:nvSpPr>
        <p:spPr>
          <a:xfrm>
            <a:off x="640080" y="32461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02</a:t>
            </a:r>
            <a:endParaRPr lang="en-US" sz="1600" dirty="0"/>
          </a:p>
        </p:txBody>
      </p:sp>
      <p:sp>
        <p:nvSpPr>
          <p:cNvPr id="9" name="Text 7"/>
          <p:cNvSpPr/>
          <p:nvPr/>
        </p:nvSpPr>
        <p:spPr>
          <a:xfrm>
            <a:off x="1234440" y="32461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Five entries are initially displayed.</a:t>
            </a:r>
            <a:endParaRPr lang="en-US" sz="1900" dirty="0"/>
          </a:p>
        </p:txBody>
      </p:sp>
      <p:sp>
        <p:nvSpPr>
          <p:cNvPr id="10" name="Text 8"/>
          <p:cNvSpPr/>
          <p:nvPr/>
        </p:nvSpPr>
        <p:spPr>
          <a:xfrm>
            <a:off x="640080" y="39319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03</a:t>
            </a:r>
            <a:endParaRPr lang="en-US" sz="1600" dirty="0"/>
          </a:p>
        </p:txBody>
      </p:sp>
      <p:sp>
        <p:nvSpPr>
          <p:cNvPr id="11" name="Text 9"/>
          <p:cNvSpPr/>
          <p:nvPr/>
        </p:nvSpPr>
        <p:spPr>
          <a:xfrm>
            <a:off x="1234440" y="39319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Recently closed remains read-only.</a:t>
            </a:r>
            <a:endParaRPr lang="en-US" sz="1900" dirty="0"/>
          </a:p>
        </p:txBody>
      </p:sp>
      <p:sp>
        <p:nvSpPr>
          <p:cNvPr id="12" name="Text 10"/>
          <p:cNvSpPr/>
          <p:nvPr/>
        </p:nvSpPr>
        <p:spPr>
          <a:xfrm>
            <a:off x="640080" y="46177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04</a:t>
            </a:r>
            <a:endParaRPr lang="en-US" sz="1600" dirty="0"/>
          </a:p>
        </p:txBody>
      </p:sp>
      <p:sp>
        <p:nvSpPr>
          <p:cNvPr id="13" name="Text 11"/>
          <p:cNvSpPr/>
          <p:nvPr/>
        </p:nvSpPr>
        <p:spPr>
          <a:xfrm>
            <a:off x="1234440" y="46177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Access changes clear protected history and drafts.</a:t>
            </a:r>
            <a:endParaRPr lang="en-US" sz="1900" dirty="0"/>
          </a:p>
        </p:txBody>
      </p:sp>
      <p:pic>
        <p:nvPicPr>
          <p:cNvPr id="14" name="Image 0" descr="/private/tmp/rescue-release-integration-2026-10-18/docs/user-guide/images/history-390.png">    </p:cNvPr>
          <p:cNvPicPr>
            <a:picLocks noChangeAspect="1"/>
          </p:cNvPicPr>
          <p:nvPr/>
        </p:nvPicPr>
        <p:blipFill>
          <a:blip r:embed="rId1"/>
          <a:stretch>
            <a:fillRect/>
          </a:stretch>
        </p:blipFill>
        <p:spPr>
          <a:xfrm>
            <a:off x="8503920" y="1463040"/>
            <a:ext cx="2148840" cy="464515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A"/>
        </a:solidFill>
      </p:bgPr>
    </p:bg>
    <p:spTree>
      <p:nvGrpSpPr>
        <p:cNvPr id="1" name=""/>
        <p:cNvGrpSpPr/>
        <p:nvPr/>
      </p:nvGrpSpPr>
      <p:grpSpPr>
        <a:xfrm>
          <a:off x="0" y="0"/>
          <a:ext cx="0" cy="0"/>
          <a:chOff x="0" y="0"/>
          <a:chExt cx="0" cy="0"/>
        </a:xfrm>
      </p:grpSpPr>
      <p:sp>
        <p:nvSpPr>
          <p:cNvPr id="2" name="Text 0"/>
          <p:cNvSpPr/>
          <p:nvPr/>
        </p:nvSpPr>
        <p:spPr>
          <a:xfrm>
            <a:off x="594360" y="320040"/>
            <a:ext cx="8229600" cy="274320"/>
          </a:xfrm>
          <a:prstGeom prst="rect">
            <a:avLst/>
          </a:prstGeom>
          <a:noFill/>
          <a:ln/>
        </p:spPr>
        <p:txBody>
          <a:bodyPr wrap="square" lIns="0" tIns="0" rIns="0" bIns="0" rtlCol="0" anchor="ctr"/>
          <a:lstStyle/>
          <a:p>
            <a:pPr indent="0" marL="0">
              <a:buNone/>
            </a:pPr>
            <a:r>
              <a:rPr lang="en-US" sz="1300" b="1" dirty="0">
                <a:solidFill>
                  <a:srgbClr val="6D28D9"/>
                </a:solidFill>
                <a:latin typeface="Arial" pitchFamily="34" charset="0"/>
                <a:ea typeface="Arial" pitchFamily="34" charset="-122"/>
                <a:cs typeface="Arial" pitchFamily="34" charset="-120"/>
              </a:rPr>
              <a:t>Rescue Reports</a:t>
            </a:r>
            <a:endParaRPr lang="en-US" sz="1300" dirty="0"/>
          </a:p>
        </p:txBody>
      </p:sp>
      <p:sp>
        <p:nvSpPr>
          <p:cNvPr id="3" name="Text 1"/>
          <p:cNvSpPr/>
          <p:nvPr/>
        </p:nvSpPr>
        <p:spPr>
          <a:xfrm>
            <a:off x="10972800" y="320040"/>
            <a:ext cx="594360" cy="274320"/>
          </a:xfrm>
          <a:prstGeom prst="rect">
            <a:avLst/>
          </a:prstGeom>
          <a:noFill/>
          <a:ln/>
        </p:spPr>
        <p:txBody>
          <a:bodyPr wrap="square" lIns="0" tIns="0" rIns="0" bIns="0" rtlCol="0" anchor="ctr"/>
          <a:lstStyle/>
          <a:p>
            <a:pPr indent="0" marL="0">
              <a:buNone/>
            </a:pPr>
            <a:r>
              <a:rPr lang="en-US" sz="1200" dirty="0">
                <a:solidFill>
                  <a:srgbClr val="625E73"/>
                </a:solidFill>
                <a:latin typeface="Arial" pitchFamily="34" charset="0"/>
                <a:ea typeface="Arial" pitchFamily="34" charset="-122"/>
                <a:cs typeface="Arial" pitchFamily="34" charset="-120"/>
              </a:rPr>
              <a:t>10</a:t>
            </a:r>
            <a:endParaRPr lang="en-US" sz="1200" dirty="0"/>
          </a:p>
        </p:txBody>
      </p:sp>
      <p:sp>
        <p:nvSpPr>
          <p:cNvPr id="4" name="Text 2"/>
          <p:cNvSpPr/>
          <p:nvPr/>
        </p:nvSpPr>
        <p:spPr>
          <a:xfrm>
            <a:off x="594360" y="868680"/>
            <a:ext cx="10972800" cy="1051560"/>
          </a:xfrm>
          <a:prstGeom prst="rect">
            <a:avLst/>
          </a:prstGeom>
          <a:noFill/>
          <a:ln/>
        </p:spPr>
        <p:txBody>
          <a:bodyPr wrap="square" lIns="0" tIns="0" rIns="0" bIns="0" rtlCol="0" anchor="ctr"/>
          <a:lstStyle/>
          <a:p>
            <a:pPr indent="0" marL="0">
              <a:buNone/>
            </a:pPr>
            <a:r>
              <a:rPr lang="en-US" sz="3600" b="1" dirty="0">
                <a:solidFill>
                  <a:srgbClr val="211D35"/>
                </a:solidFill>
                <a:latin typeface="Arial" pitchFamily="34" charset="0"/>
                <a:ea typeface="Arial" pitchFamily="34" charset="-122"/>
                <a:cs typeface="Arial" pitchFamily="34" charset="-120"/>
              </a:rPr>
              <a:t>Coordinate from the web</a:t>
            </a:r>
            <a:endParaRPr lang="en-US" sz="3600" dirty="0"/>
          </a:p>
        </p:txBody>
      </p:sp>
      <p:sp>
        <p:nvSpPr>
          <p:cNvPr id="5" name="Text 3"/>
          <p:cNvSpPr/>
          <p:nvPr/>
        </p:nvSpPr>
        <p:spPr>
          <a:xfrm>
            <a:off x="594360" y="1874520"/>
            <a:ext cx="10881360" cy="594360"/>
          </a:xfrm>
          <a:prstGeom prst="rect">
            <a:avLst/>
          </a:prstGeom>
          <a:noFill/>
          <a:ln/>
        </p:spPr>
        <p:txBody>
          <a:bodyPr wrap="square" lIns="0" tIns="0" rIns="0" bIns="0" rtlCol="0" anchor="ctr"/>
          <a:lstStyle/>
          <a:p>
            <a:pPr indent="0" marL="0">
              <a:buNone/>
            </a:pPr>
            <a:r>
              <a:rPr lang="en-US" sz="1600" dirty="0">
                <a:solidFill>
                  <a:srgbClr val="625E73"/>
                </a:solidFill>
                <a:latin typeface="Arial" pitchFamily="34" charset="0"/>
                <a:ea typeface="Arial" pitchFamily="34" charset="-122"/>
                <a:cs typeface="Arial" pitchFamily="34" charset="-120"/>
              </a:rPr>
              <a:t>Staff workspaces remain complete web routes.</a:t>
            </a:r>
            <a:endParaRPr lang="en-US" sz="1600" dirty="0"/>
          </a:p>
        </p:txBody>
      </p:sp>
      <p:sp>
        <p:nvSpPr>
          <p:cNvPr id="6" name="Shape 4"/>
          <p:cNvSpPr/>
          <p:nvPr/>
        </p:nvSpPr>
        <p:spPr>
          <a:xfrm>
            <a:off x="640080" y="2834640"/>
            <a:ext cx="3520440" cy="2377440"/>
          </a:xfrm>
          <a:prstGeom prst="roundRect">
            <a:avLst/>
          </a:prstGeom>
          <a:solidFill>
            <a:srgbClr val="FFFFFF"/>
          </a:solidFill>
          <a:ln w="12700">
            <a:solidFill>
              <a:srgbClr val="E5E3ED"/>
            </a:solidFill>
            <a:prstDash val="solid"/>
          </a:ln>
        </p:spPr>
      </p:sp>
      <p:sp>
        <p:nvSpPr>
          <p:cNvPr id="7" name="Text 5"/>
          <p:cNvSpPr/>
          <p:nvPr/>
        </p:nvSpPr>
        <p:spPr>
          <a:xfrm>
            <a:off x="868680" y="3108960"/>
            <a:ext cx="3017520" cy="548640"/>
          </a:xfrm>
          <a:prstGeom prst="rect">
            <a:avLst/>
          </a:prstGeom>
          <a:noFill/>
          <a:ln/>
        </p:spPr>
        <p:txBody>
          <a:bodyPr wrap="square" lIns="0" tIns="0" rIns="0" bIns="0" rtlCol="0" anchor="ctr"/>
          <a:lstStyle/>
          <a:p>
            <a:pPr indent="0" marL="0">
              <a:buNone/>
            </a:pPr>
            <a:r>
              <a:rPr lang="en-US" sz="2500" b="1" dirty="0">
                <a:solidFill>
                  <a:srgbClr val="6D28D9"/>
                </a:solidFill>
                <a:latin typeface="Arial" pitchFamily="34" charset="0"/>
                <a:ea typeface="Arial" pitchFamily="34" charset="-122"/>
                <a:cs typeface="Arial" pitchFamily="34" charset="-120"/>
              </a:rPr>
              <a:t>Dispatcher</a:t>
            </a:r>
            <a:endParaRPr lang="en-US" sz="2500" dirty="0"/>
          </a:p>
        </p:txBody>
      </p:sp>
      <p:sp>
        <p:nvSpPr>
          <p:cNvPr id="8" name="Text 6"/>
          <p:cNvSpPr/>
          <p:nvPr/>
        </p:nvSpPr>
        <p:spPr>
          <a:xfrm>
            <a:off x="868680" y="3794760"/>
            <a:ext cx="3017520" cy="1051560"/>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Queue → review/verify → prioritize → assign → close.</a:t>
            </a:r>
            <a:endParaRPr lang="en-US" sz="1900" dirty="0"/>
          </a:p>
        </p:txBody>
      </p:sp>
      <p:sp>
        <p:nvSpPr>
          <p:cNvPr id="9" name="Shape 7"/>
          <p:cNvSpPr/>
          <p:nvPr/>
        </p:nvSpPr>
        <p:spPr>
          <a:xfrm>
            <a:off x="4389120" y="2834640"/>
            <a:ext cx="3520440" cy="2377440"/>
          </a:xfrm>
          <a:prstGeom prst="roundRect">
            <a:avLst/>
          </a:prstGeom>
          <a:solidFill>
            <a:srgbClr val="FFFFFF"/>
          </a:solidFill>
          <a:ln w="12700">
            <a:solidFill>
              <a:srgbClr val="E5E3ED"/>
            </a:solidFill>
            <a:prstDash val="solid"/>
          </a:ln>
        </p:spPr>
      </p:sp>
      <p:sp>
        <p:nvSpPr>
          <p:cNvPr id="10" name="Text 8"/>
          <p:cNvSpPr/>
          <p:nvPr/>
        </p:nvSpPr>
        <p:spPr>
          <a:xfrm>
            <a:off x="4617720" y="3108960"/>
            <a:ext cx="3017520" cy="548640"/>
          </a:xfrm>
          <a:prstGeom prst="rect">
            <a:avLst/>
          </a:prstGeom>
          <a:noFill/>
          <a:ln/>
        </p:spPr>
        <p:txBody>
          <a:bodyPr wrap="square" lIns="0" tIns="0" rIns="0" bIns="0" rtlCol="0" anchor="ctr"/>
          <a:lstStyle/>
          <a:p>
            <a:pPr indent="0" marL="0">
              <a:buNone/>
            </a:pPr>
            <a:r>
              <a:rPr lang="en-US" sz="2500" b="1" dirty="0">
                <a:solidFill>
                  <a:srgbClr val="6D28D9"/>
                </a:solidFill>
                <a:latin typeface="Arial" pitchFamily="34" charset="0"/>
                <a:ea typeface="Arial" pitchFamily="34" charset="-122"/>
                <a:cs typeface="Arial" pitchFamily="34" charset="-120"/>
              </a:rPr>
              <a:t>DMO</a:t>
            </a:r>
            <a:endParaRPr lang="en-US" sz="2500" dirty="0"/>
          </a:p>
        </p:txBody>
      </p:sp>
      <p:sp>
        <p:nvSpPr>
          <p:cNvPr id="11" name="Text 9"/>
          <p:cNvSpPr/>
          <p:nvPr/>
        </p:nvSpPr>
        <p:spPr>
          <a:xfrm>
            <a:off x="4617720" y="3794760"/>
            <a:ext cx="3017520" cy="1051560"/>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Monitor incidents and trends; inspect analytics and exports.</a:t>
            </a:r>
            <a:endParaRPr lang="en-US" sz="1900" dirty="0"/>
          </a:p>
        </p:txBody>
      </p:sp>
      <p:sp>
        <p:nvSpPr>
          <p:cNvPr id="12" name="Shape 10"/>
          <p:cNvSpPr/>
          <p:nvPr/>
        </p:nvSpPr>
        <p:spPr>
          <a:xfrm>
            <a:off x="8138160" y="2834640"/>
            <a:ext cx="3520440" cy="2377440"/>
          </a:xfrm>
          <a:prstGeom prst="roundRect">
            <a:avLst/>
          </a:prstGeom>
          <a:solidFill>
            <a:srgbClr val="FFFFFF"/>
          </a:solidFill>
          <a:ln w="12700">
            <a:solidFill>
              <a:srgbClr val="E5E3ED"/>
            </a:solidFill>
            <a:prstDash val="solid"/>
          </a:ln>
        </p:spPr>
      </p:sp>
      <p:sp>
        <p:nvSpPr>
          <p:cNvPr id="13" name="Text 11"/>
          <p:cNvSpPr/>
          <p:nvPr/>
        </p:nvSpPr>
        <p:spPr>
          <a:xfrm>
            <a:off x="8366760" y="3108960"/>
            <a:ext cx="3017520" cy="548640"/>
          </a:xfrm>
          <a:prstGeom prst="rect">
            <a:avLst/>
          </a:prstGeom>
          <a:noFill/>
          <a:ln/>
        </p:spPr>
        <p:txBody>
          <a:bodyPr wrap="square" lIns="0" tIns="0" rIns="0" bIns="0" rtlCol="0" anchor="ctr"/>
          <a:lstStyle/>
          <a:p>
            <a:pPr indent="0" marL="0">
              <a:buNone/>
            </a:pPr>
            <a:r>
              <a:rPr lang="en-US" sz="2500" b="1" dirty="0">
                <a:solidFill>
                  <a:srgbClr val="6D28D9"/>
                </a:solidFill>
                <a:latin typeface="Arial" pitchFamily="34" charset="0"/>
                <a:ea typeface="Arial" pitchFamily="34" charset="-122"/>
                <a:cs typeface="Arial" pitchFamily="34" charset="-120"/>
              </a:rPr>
              <a:t>Admin</a:t>
            </a:r>
            <a:endParaRPr lang="en-US" sz="2500" dirty="0"/>
          </a:p>
        </p:txBody>
      </p:sp>
      <p:sp>
        <p:nvSpPr>
          <p:cNvPr id="14" name="Text 12"/>
          <p:cNvSpPr/>
          <p:nvPr/>
        </p:nvSpPr>
        <p:spPr>
          <a:xfrm>
            <a:off x="8366760" y="3794760"/>
            <a:ext cx="3017520" cy="1051560"/>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Manage accounts and teams, and use granted staff routes.</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A"/>
        </a:solidFill>
      </p:bgPr>
    </p:bg>
    <p:spTree>
      <p:nvGrpSpPr>
        <p:cNvPr id="1" name=""/>
        <p:cNvGrpSpPr/>
        <p:nvPr/>
      </p:nvGrpSpPr>
      <p:grpSpPr>
        <a:xfrm>
          <a:off x="0" y="0"/>
          <a:ext cx="0" cy="0"/>
          <a:chOff x="0" y="0"/>
          <a:chExt cx="0" cy="0"/>
        </a:xfrm>
      </p:grpSpPr>
      <p:sp>
        <p:nvSpPr>
          <p:cNvPr id="2" name="Text 0"/>
          <p:cNvSpPr/>
          <p:nvPr/>
        </p:nvSpPr>
        <p:spPr>
          <a:xfrm>
            <a:off x="594360" y="320040"/>
            <a:ext cx="8229600" cy="274320"/>
          </a:xfrm>
          <a:prstGeom prst="rect">
            <a:avLst/>
          </a:prstGeom>
          <a:noFill/>
          <a:ln/>
        </p:spPr>
        <p:txBody>
          <a:bodyPr wrap="square" lIns="0" tIns="0" rIns="0" bIns="0" rtlCol="0" anchor="ctr"/>
          <a:lstStyle/>
          <a:p>
            <a:pPr indent="0" marL="0">
              <a:buNone/>
            </a:pPr>
            <a:r>
              <a:rPr lang="en-US" sz="1300" b="1" dirty="0">
                <a:solidFill>
                  <a:srgbClr val="6D28D9"/>
                </a:solidFill>
                <a:latin typeface="Arial" pitchFamily="34" charset="0"/>
                <a:ea typeface="Arial" pitchFamily="34" charset="-122"/>
                <a:cs typeface="Arial" pitchFamily="34" charset="-120"/>
              </a:rPr>
              <a:t>Rescue Reports</a:t>
            </a:r>
            <a:endParaRPr lang="en-US" sz="1300" dirty="0"/>
          </a:p>
        </p:txBody>
      </p:sp>
      <p:sp>
        <p:nvSpPr>
          <p:cNvPr id="3" name="Text 1"/>
          <p:cNvSpPr/>
          <p:nvPr/>
        </p:nvSpPr>
        <p:spPr>
          <a:xfrm>
            <a:off x="10972800" y="320040"/>
            <a:ext cx="594360" cy="274320"/>
          </a:xfrm>
          <a:prstGeom prst="rect">
            <a:avLst/>
          </a:prstGeom>
          <a:noFill/>
          <a:ln/>
        </p:spPr>
        <p:txBody>
          <a:bodyPr wrap="square" lIns="0" tIns="0" rIns="0" bIns="0" rtlCol="0" anchor="ctr"/>
          <a:lstStyle/>
          <a:p>
            <a:pPr indent="0" marL="0">
              <a:buNone/>
            </a:pPr>
            <a:r>
              <a:rPr lang="en-US" sz="1200" dirty="0">
                <a:solidFill>
                  <a:srgbClr val="625E73"/>
                </a:solidFill>
                <a:latin typeface="Arial" pitchFamily="34" charset="0"/>
                <a:ea typeface="Arial" pitchFamily="34" charset="-122"/>
                <a:cs typeface="Arial" pitchFamily="34" charset="-120"/>
              </a:rPr>
              <a:t>11</a:t>
            </a:r>
            <a:endParaRPr lang="en-US" sz="1200" dirty="0"/>
          </a:p>
        </p:txBody>
      </p:sp>
      <p:sp>
        <p:nvSpPr>
          <p:cNvPr id="4" name="Text 2"/>
          <p:cNvSpPr/>
          <p:nvPr/>
        </p:nvSpPr>
        <p:spPr>
          <a:xfrm>
            <a:off x="594360" y="868680"/>
            <a:ext cx="10972800" cy="1051560"/>
          </a:xfrm>
          <a:prstGeom prst="rect">
            <a:avLst/>
          </a:prstGeom>
          <a:noFill/>
          <a:ln/>
        </p:spPr>
        <p:txBody>
          <a:bodyPr wrap="square" lIns="0" tIns="0" rIns="0" bIns="0" rtlCol="0" anchor="ctr"/>
          <a:lstStyle/>
          <a:p>
            <a:pPr indent="0" marL="0">
              <a:buNone/>
            </a:pPr>
            <a:r>
              <a:rPr lang="en-US" sz="3600" b="1" dirty="0">
                <a:solidFill>
                  <a:srgbClr val="211D35"/>
                </a:solidFill>
                <a:latin typeface="Arial" pitchFamily="34" charset="0"/>
                <a:ea typeface="Arial" pitchFamily="34" charset="-122"/>
                <a:cs typeface="Arial" pitchFamily="34" charset="-120"/>
              </a:rPr>
              <a:t>One backend, two clients</a:t>
            </a:r>
            <a:endParaRPr lang="en-US" sz="3600" dirty="0"/>
          </a:p>
        </p:txBody>
      </p:sp>
      <p:sp>
        <p:nvSpPr>
          <p:cNvPr id="5" name="Text 3"/>
          <p:cNvSpPr/>
          <p:nvPr/>
        </p:nvSpPr>
        <p:spPr>
          <a:xfrm>
            <a:off x="594360" y="1874520"/>
            <a:ext cx="10881360" cy="594360"/>
          </a:xfrm>
          <a:prstGeom prst="rect">
            <a:avLst/>
          </a:prstGeom>
          <a:noFill/>
          <a:ln/>
        </p:spPr>
        <p:txBody>
          <a:bodyPr wrap="square" lIns="0" tIns="0" rIns="0" bIns="0" rtlCol="0" anchor="ctr"/>
          <a:lstStyle/>
          <a:p>
            <a:pPr indent="0" marL="0">
              <a:buNone/>
            </a:pPr>
            <a:r>
              <a:rPr lang="en-US" sz="1600" dirty="0">
                <a:solidFill>
                  <a:srgbClr val="625E73"/>
                </a:solidFill>
                <a:latin typeface="Arial" pitchFamily="34" charset="0"/>
                <a:ea typeface="Arial" pitchFamily="34" charset="-122"/>
                <a:cs typeface="Arial" pitchFamily="34" charset="-120"/>
              </a:rPr>
              <a:t>Operational writes use the API; reads follow Firestore permissions.</a:t>
            </a:r>
            <a:endParaRPr lang="en-US" sz="1600" dirty="0"/>
          </a:p>
        </p:txBody>
      </p:sp>
      <p:sp>
        <p:nvSpPr>
          <p:cNvPr id="6" name="Shape 4"/>
          <p:cNvSpPr/>
          <p:nvPr/>
        </p:nvSpPr>
        <p:spPr>
          <a:xfrm>
            <a:off x="640080" y="2743200"/>
            <a:ext cx="2743200" cy="914400"/>
          </a:xfrm>
          <a:prstGeom prst="roundRect">
            <a:avLst/>
          </a:prstGeom>
          <a:solidFill>
            <a:srgbClr val="FFFFFF"/>
          </a:solidFill>
          <a:ln w="12700">
            <a:solidFill>
              <a:srgbClr val="E5E3ED"/>
            </a:solidFill>
            <a:prstDash val="solid"/>
          </a:ln>
        </p:spPr>
      </p:sp>
      <p:sp>
        <p:nvSpPr>
          <p:cNvPr id="7" name="Text 5"/>
          <p:cNvSpPr/>
          <p:nvPr/>
        </p:nvSpPr>
        <p:spPr>
          <a:xfrm>
            <a:off x="822960" y="2880360"/>
            <a:ext cx="2377440" cy="640080"/>
          </a:xfrm>
          <a:prstGeom prst="rect">
            <a:avLst/>
          </a:prstGeom>
          <a:noFill/>
          <a:ln/>
        </p:spPr>
        <p:txBody>
          <a:bodyPr wrap="square" lIns="0" tIns="0" rIns="0" bIns="0" rtlCol="0" anchor="ctr"/>
          <a:lstStyle/>
          <a:p>
            <a:pPr indent="0" marL="0">
              <a:buNone/>
            </a:pPr>
            <a:r>
              <a:rPr lang="en-US" sz="2200" b="1" dirty="0">
                <a:solidFill>
                  <a:srgbClr val="211D35"/>
                </a:solidFill>
                <a:latin typeface="Arial" pitchFamily="34" charset="0"/>
                <a:ea typeface="Arial" pitchFamily="34" charset="-122"/>
                <a:cs typeface="Arial" pitchFamily="34" charset="-120"/>
              </a:rPr>
              <a:t>React web</a:t>
            </a:r>
            <a:endParaRPr lang="en-US" sz="2200" dirty="0"/>
          </a:p>
        </p:txBody>
      </p:sp>
      <p:sp>
        <p:nvSpPr>
          <p:cNvPr id="8" name="Shape 6"/>
          <p:cNvSpPr/>
          <p:nvPr/>
        </p:nvSpPr>
        <p:spPr>
          <a:xfrm>
            <a:off x="640080" y="4206240"/>
            <a:ext cx="2743200" cy="914400"/>
          </a:xfrm>
          <a:prstGeom prst="roundRect">
            <a:avLst/>
          </a:prstGeom>
          <a:solidFill>
            <a:srgbClr val="FFFFFF"/>
          </a:solidFill>
          <a:ln w="12700">
            <a:solidFill>
              <a:srgbClr val="E5E3ED"/>
            </a:solidFill>
            <a:prstDash val="solid"/>
          </a:ln>
        </p:spPr>
      </p:sp>
      <p:sp>
        <p:nvSpPr>
          <p:cNvPr id="9" name="Text 7"/>
          <p:cNvSpPr/>
          <p:nvPr/>
        </p:nvSpPr>
        <p:spPr>
          <a:xfrm>
            <a:off x="822960" y="4343400"/>
            <a:ext cx="2377440" cy="640080"/>
          </a:xfrm>
          <a:prstGeom prst="rect">
            <a:avLst/>
          </a:prstGeom>
          <a:noFill/>
          <a:ln/>
        </p:spPr>
        <p:txBody>
          <a:bodyPr wrap="square" lIns="0" tIns="0" rIns="0" bIns="0" rtlCol="0" anchor="ctr"/>
          <a:lstStyle/>
          <a:p>
            <a:pPr indent="0" marL="0">
              <a:buNone/>
            </a:pPr>
            <a:r>
              <a:rPr lang="en-US" sz="2200" b="1" dirty="0">
                <a:solidFill>
                  <a:srgbClr val="211D35"/>
                </a:solidFill>
                <a:latin typeface="Arial" pitchFamily="34" charset="0"/>
                <a:ea typeface="Arial" pitchFamily="34" charset="-122"/>
                <a:cs typeface="Arial" pitchFamily="34" charset="-120"/>
              </a:rPr>
              <a:t>Flutter</a:t>
            </a:r>
            <a:endParaRPr lang="en-US" sz="2200" dirty="0"/>
          </a:p>
        </p:txBody>
      </p:sp>
      <p:sp>
        <p:nvSpPr>
          <p:cNvPr id="10" name="Shape 8"/>
          <p:cNvSpPr/>
          <p:nvPr/>
        </p:nvSpPr>
        <p:spPr>
          <a:xfrm>
            <a:off x="4572000" y="3474720"/>
            <a:ext cx="2743200" cy="914400"/>
          </a:xfrm>
          <a:prstGeom prst="roundRect">
            <a:avLst/>
          </a:prstGeom>
          <a:solidFill>
            <a:srgbClr val="241747"/>
          </a:solidFill>
          <a:ln w="12700">
            <a:solidFill>
              <a:srgbClr val="E5E3ED"/>
            </a:solidFill>
            <a:prstDash val="solid"/>
          </a:ln>
        </p:spPr>
      </p:sp>
      <p:sp>
        <p:nvSpPr>
          <p:cNvPr id="11" name="Text 9"/>
          <p:cNvSpPr/>
          <p:nvPr/>
        </p:nvSpPr>
        <p:spPr>
          <a:xfrm>
            <a:off x="4754880" y="3611880"/>
            <a:ext cx="2377440" cy="64008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Express API</a:t>
            </a:r>
            <a:endParaRPr lang="en-US" sz="2200" dirty="0"/>
          </a:p>
        </p:txBody>
      </p:sp>
      <p:sp>
        <p:nvSpPr>
          <p:cNvPr id="12" name="Shape 10"/>
          <p:cNvSpPr/>
          <p:nvPr/>
        </p:nvSpPr>
        <p:spPr>
          <a:xfrm>
            <a:off x="8412480" y="2743200"/>
            <a:ext cx="2926080" cy="914400"/>
          </a:xfrm>
          <a:prstGeom prst="roundRect">
            <a:avLst/>
          </a:prstGeom>
          <a:solidFill>
            <a:srgbClr val="FFFFFF"/>
          </a:solidFill>
          <a:ln w="12700">
            <a:solidFill>
              <a:srgbClr val="E5E3ED"/>
            </a:solidFill>
            <a:prstDash val="solid"/>
          </a:ln>
        </p:spPr>
      </p:sp>
      <p:sp>
        <p:nvSpPr>
          <p:cNvPr id="13" name="Text 11"/>
          <p:cNvSpPr/>
          <p:nvPr/>
        </p:nvSpPr>
        <p:spPr>
          <a:xfrm>
            <a:off x="8595360" y="2880360"/>
            <a:ext cx="2560320" cy="640080"/>
          </a:xfrm>
          <a:prstGeom prst="rect">
            <a:avLst/>
          </a:prstGeom>
          <a:noFill/>
          <a:ln/>
        </p:spPr>
        <p:txBody>
          <a:bodyPr wrap="square" lIns="0" tIns="0" rIns="0" bIns="0" rtlCol="0" anchor="ctr"/>
          <a:lstStyle/>
          <a:p>
            <a:pPr indent="0" marL="0">
              <a:buNone/>
            </a:pPr>
            <a:r>
              <a:rPr lang="en-US" sz="2200" b="1" dirty="0">
                <a:solidFill>
                  <a:srgbClr val="211D35"/>
                </a:solidFill>
                <a:latin typeface="Arial" pitchFamily="34" charset="0"/>
                <a:ea typeface="Arial" pitchFamily="34" charset="-122"/>
                <a:cs typeface="Arial" pitchFamily="34" charset="-120"/>
              </a:rPr>
              <a:t>Auth / Firestore</a:t>
            </a:r>
            <a:endParaRPr lang="en-US" sz="2200" dirty="0"/>
          </a:p>
        </p:txBody>
      </p:sp>
      <p:sp>
        <p:nvSpPr>
          <p:cNvPr id="14" name="Shape 12"/>
          <p:cNvSpPr/>
          <p:nvPr/>
        </p:nvSpPr>
        <p:spPr>
          <a:xfrm>
            <a:off x="8412480" y="4206240"/>
            <a:ext cx="2926080" cy="914400"/>
          </a:xfrm>
          <a:prstGeom prst="roundRect">
            <a:avLst/>
          </a:prstGeom>
          <a:solidFill>
            <a:srgbClr val="FFFFFF"/>
          </a:solidFill>
          <a:ln w="12700">
            <a:solidFill>
              <a:srgbClr val="E5E3ED"/>
            </a:solidFill>
            <a:prstDash val="solid"/>
          </a:ln>
        </p:spPr>
      </p:sp>
      <p:sp>
        <p:nvSpPr>
          <p:cNvPr id="15" name="Text 13"/>
          <p:cNvSpPr/>
          <p:nvPr/>
        </p:nvSpPr>
        <p:spPr>
          <a:xfrm>
            <a:off x="8595360" y="4343400"/>
            <a:ext cx="2560320" cy="640080"/>
          </a:xfrm>
          <a:prstGeom prst="rect">
            <a:avLst/>
          </a:prstGeom>
          <a:noFill/>
          <a:ln/>
        </p:spPr>
        <p:txBody>
          <a:bodyPr wrap="square" lIns="0" tIns="0" rIns="0" bIns="0" rtlCol="0" anchor="ctr"/>
          <a:lstStyle/>
          <a:p>
            <a:pPr indent="0" marL="0">
              <a:buNone/>
            </a:pPr>
            <a:r>
              <a:rPr lang="en-US" sz="2200" b="1" dirty="0">
                <a:solidFill>
                  <a:srgbClr val="211D35"/>
                </a:solidFill>
                <a:latin typeface="Arial" pitchFamily="34" charset="0"/>
                <a:ea typeface="Arial" pitchFamily="34" charset="-122"/>
                <a:cs typeface="Arial" pitchFamily="34" charset="-120"/>
              </a:rPr>
              <a:t>Cloudinary / FCM</a:t>
            </a:r>
            <a:endParaRPr lang="en-US" sz="2200" dirty="0"/>
          </a:p>
        </p:txBody>
      </p:sp>
      <p:sp>
        <p:nvSpPr>
          <p:cNvPr id="16" name="Shape 14"/>
          <p:cNvSpPr/>
          <p:nvPr/>
        </p:nvSpPr>
        <p:spPr>
          <a:xfrm>
            <a:off x="3383280" y="3200400"/>
            <a:ext cx="1188720" cy="548640"/>
          </a:xfrm>
          <a:prstGeom prst="line">
            <a:avLst/>
          </a:prstGeom>
          <a:noFill/>
          <a:ln w="25400">
            <a:solidFill>
              <a:srgbClr val="6D28D9"/>
            </a:solidFill>
            <a:prstDash val="solid"/>
            <a:headEnd type="none"/>
            <a:tailEnd type="triangle"/>
          </a:ln>
        </p:spPr>
      </p:sp>
      <p:sp>
        <p:nvSpPr>
          <p:cNvPr id="17" name="Shape 15"/>
          <p:cNvSpPr/>
          <p:nvPr/>
        </p:nvSpPr>
        <p:spPr>
          <a:xfrm>
            <a:off x="3383280" y="4663440"/>
            <a:ext cx="1188720" cy="-548640"/>
          </a:xfrm>
          <a:prstGeom prst="line">
            <a:avLst/>
          </a:prstGeom>
          <a:noFill/>
          <a:ln w="25400">
            <a:solidFill>
              <a:srgbClr val="6D28D9"/>
            </a:solidFill>
            <a:prstDash val="solid"/>
            <a:headEnd type="none"/>
            <a:tailEnd type="triangle"/>
          </a:ln>
        </p:spPr>
      </p:sp>
      <p:sp>
        <p:nvSpPr>
          <p:cNvPr id="18" name="Shape 16"/>
          <p:cNvSpPr/>
          <p:nvPr/>
        </p:nvSpPr>
        <p:spPr>
          <a:xfrm>
            <a:off x="7315200" y="3749040"/>
            <a:ext cx="1097280" cy="-548640"/>
          </a:xfrm>
          <a:prstGeom prst="line">
            <a:avLst/>
          </a:prstGeom>
          <a:noFill/>
          <a:ln w="25400">
            <a:solidFill>
              <a:srgbClr val="6D28D9"/>
            </a:solidFill>
            <a:prstDash val="solid"/>
            <a:headEnd type="none"/>
            <a:tailEnd type="triangle"/>
          </a:ln>
        </p:spPr>
      </p:sp>
      <p:sp>
        <p:nvSpPr>
          <p:cNvPr id="19" name="Shape 17"/>
          <p:cNvSpPr/>
          <p:nvPr/>
        </p:nvSpPr>
        <p:spPr>
          <a:xfrm>
            <a:off x="7315200" y="4114800"/>
            <a:ext cx="1097280" cy="548640"/>
          </a:xfrm>
          <a:prstGeom prst="line">
            <a:avLst/>
          </a:prstGeom>
          <a:noFill/>
          <a:ln w="25400">
            <a:solidFill>
              <a:srgbClr val="6D28D9"/>
            </a:solidFill>
            <a:prstDash val="solid"/>
            <a:headEnd type="none"/>
            <a:tailEnd type="triangle"/>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A"/>
        </a:solidFill>
      </p:bgPr>
    </p:bg>
    <p:spTree>
      <p:nvGrpSpPr>
        <p:cNvPr id="1" name=""/>
        <p:cNvGrpSpPr/>
        <p:nvPr/>
      </p:nvGrpSpPr>
      <p:grpSpPr>
        <a:xfrm>
          <a:off x="0" y="0"/>
          <a:ext cx="0" cy="0"/>
          <a:chOff x="0" y="0"/>
          <a:chExt cx="0" cy="0"/>
        </a:xfrm>
      </p:grpSpPr>
      <p:sp>
        <p:nvSpPr>
          <p:cNvPr id="2" name="Text 0"/>
          <p:cNvSpPr/>
          <p:nvPr/>
        </p:nvSpPr>
        <p:spPr>
          <a:xfrm>
            <a:off x="594360" y="320040"/>
            <a:ext cx="8229600" cy="274320"/>
          </a:xfrm>
          <a:prstGeom prst="rect">
            <a:avLst/>
          </a:prstGeom>
          <a:noFill/>
          <a:ln/>
        </p:spPr>
        <p:txBody>
          <a:bodyPr wrap="square" lIns="0" tIns="0" rIns="0" bIns="0" rtlCol="0" anchor="ctr"/>
          <a:lstStyle/>
          <a:p>
            <a:pPr indent="0" marL="0">
              <a:buNone/>
            </a:pPr>
            <a:r>
              <a:rPr lang="en-US" sz="1300" b="1" dirty="0">
                <a:solidFill>
                  <a:srgbClr val="6D28D9"/>
                </a:solidFill>
                <a:latin typeface="Arial" pitchFamily="34" charset="0"/>
                <a:ea typeface="Arial" pitchFamily="34" charset="-122"/>
                <a:cs typeface="Arial" pitchFamily="34" charset="-120"/>
              </a:rPr>
              <a:t>Rescue Reports</a:t>
            </a:r>
            <a:endParaRPr lang="en-US" sz="1300" dirty="0"/>
          </a:p>
        </p:txBody>
      </p:sp>
      <p:sp>
        <p:nvSpPr>
          <p:cNvPr id="3" name="Text 1"/>
          <p:cNvSpPr/>
          <p:nvPr/>
        </p:nvSpPr>
        <p:spPr>
          <a:xfrm>
            <a:off x="10972800" y="320040"/>
            <a:ext cx="594360" cy="274320"/>
          </a:xfrm>
          <a:prstGeom prst="rect">
            <a:avLst/>
          </a:prstGeom>
          <a:noFill/>
          <a:ln/>
        </p:spPr>
        <p:txBody>
          <a:bodyPr wrap="square" lIns="0" tIns="0" rIns="0" bIns="0" rtlCol="0" anchor="ctr"/>
          <a:lstStyle/>
          <a:p>
            <a:pPr indent="0" marL="0">
              <a:buNone/>
            </a:pPr>
            <a:r>
              <a:rPr lang="en-US" sz="1200" dirty="0">
                <a:solidFill>
                  <a:srgbClr val="625E73"/>
                </a:solidFill>
                <a:latin typeface="Arial" pitchFamily="34" charset="0"/>
                <a:ea typeface="Arial" pitchFamily="34" charset="-122"/>
                <a:cs typeface="Arial" pitchFamily="34" charset="-120"/>
              </a:rPr>
              <a:t>12</a:t>
            </a:r>
            <a:endParaRPr lang="en-US" sz="1200" dirty="0"/>
          </a:p>
        </p:txBody>
      </p:sp>
      <p:sp>
        <p:nvSpPr>
          <p:cNvPr id="4" name="Text 2"/>
          <p:cNvSpPr/>
          <p:nvPr/>
        </p:nvSpPr>
        <p:spPr>
          <a:xfrm>
            <a:off x="594360" y="868680"/>
            <a:ext cx="10972800" cy="1051560"/>
          </a:xfrm>
          <a:prstGeom prst="rect">
            <a:avLst/>
          </a:prstGeom>
          <a:noFill/>
          <a:ln/>
        </p:spPr>
        <p:txBody>
          <a:bodyPr wrap="square" lIns="0" tIns="0" rIns="0" bIns="0" rtlCol="0" anchor="ctr"/>
          <a:lstStyle/>
          <a:p>
            <a:pPr indent="0" marL="0">
              <a:buNone/>
            </a:pPr>
            <a:r>
              <a:rPr lang="en-US" sz="3600" b="1" dirty="0">
                <a:solidFill>
                  <a:srgbClr val="211D35"/>
                </a:solidFill>
                <a:latin typeface="Arial" pitchFamily="34" charset="0"/>
                <a:ea typeface="Arial" pitchFamily="34" charset="-122"/>
                <a:cs typeface="Arial" pitchFamily="34" charset="-120"/>
              </a:rPr>
              <a:t>Before the final presentation</a:t>
            </a:r>
            <a:endParaRPr lang="en-US" sz="3600" dirty="0"/>
          </a:p>
        </p:txBody>
      </p:sp>
      <p:sp>
        <p:nvSpPr>
          <p:cNvPr id="5" name="Text 3"/>
          <p:cNvSpPr/>
          <p:nvPr/>
        </p:nvSpPr>
        <p:spPr>
          <a:xfrm>
            <a:off x="594360" y="1874520"/>
            <a:ext cx="10881360" cy="594360"/>
          </a:xfrm>
          <a:prstGeom prst="rect">
            <a:avLst/>
          </a:prstGeom>
          <a:noFill/>
          <a:ln/>
        </p:spPr>
        <p:txBody>
          <a:bodyPr wrap="square" lIns="0" tIns="0" rIns="0" bIns="0" rtlCol="0" anchor="ctr"/>
          <a:lstStyle/>
          <a:p>
            <a:pPr indent="0" marL="0">
              <a:buNone/>
            </a:pPr>
            <a:r>
              <a:rPr lang="en-US" sz="1600" dirty="0">
                <a:solidFill>
                  <a:srgbClr val="625E73"/>
                </a:solidFill>
                <a:latin typeface="Arial" pitchFamily="34" charset="0"/>
                <a:ea typeface="Arial" pitchFamily="34" charset="-122"/>
                <a:cs typeface="Arial" pitchFamily="34" charset="-120"/>
              </a:rPr>
              <a:t>Keep claims tied to evidence and real ownership.</a:t>
            </a:r>
            <a:endParaRPr lang="en-US" sz="1600" dirty="0"/>
          </a:p>
        </p:txBody>
      </p:sp>
      <p:sp>
        <p:nvSpPr>
          <p:cNvPr id="6" name="Text 4"/>
          <p:cNvSpPr/>
          <p:nvPr/>
        </p:nvSpPr>
        <p:spPr>
          <a:xfrm>
            <a:off x="640080" y="25603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01</a:t>
            </a:r>
            <a:endParaRPr lang="en-US" sz="1600" dirty="0"/>
          </a:p>
        </p:txBody>
      </p:sp>
      <p:sp>
        <p:nvSpPr>
          <p:cNvPr id="7" name="Text 5"/>
          <p:cNvSpPr/>
          <p:nvPr/>
        </p:nvSpPr>
        <p:spPr>
          <a:xfrm>
            <a:off x="1234440" y="25603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Open the PowerPoint and review the final rendering.</a:t>
            </a:r>
            <a:endParaRPr lang="en-US" sz="1900" dirty="0"/>
          </a:p>
        </p:txBody>
      </p:sp>
      <p:sp>
        <p:nvSpPr>
          <p:cNvPr id="8" name="Text 6"/>
          <p:cNvSpPr/>
          <p:nvPr/>
        </p:nvSpPr>
        <p:spPr>
          <a:xfrm>
            <a:off x="640080" y="32461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02</a:t>
            </a:r>
            <a:endParaRPr lang="en-US" sz="1600" dirty="0"/>
          </a:p>
        </p:txBody>
      </p:sp>
      <p:sp>
        <p:nvSpPr>
          <p:cNvPr id="9" name="Text 7"/>
          <p:cNvSpPr/>
          <p:nvPr/>
        </p:nvSpPr>
        <p:spPr>
          <a:xfrm>
            <a:off x="1234440" y="32461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Combine web/mobile footage with architecture and group narration.</a:t>
            </a:r>
            <a:endParaRPr lang="en-US" sz="1900" dirty="0"/>
          </a:p>
        </p:txBody>
      </p:sp>
      <p:sp>
        <p:nvSpPr>
          <p:cNvPr id="10" name="Text 8"/>
          <p:cNvSpPr/>
          <p:nvPr/>
        </p:nvSpPr>
        <p:spPr>
          <a:xfrm>
            <a:off x="640080" y="39319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03</a:t>
            </a:r>
            <a:endParaRPr lang="en-US" sz="1600" dirty="0"/>
          </a:p>
        </p:txBody>
      </p:sp>
      <p:sp>
        <p:nvSpPr>
          <p:cNvPr id="11" name="Text 9"/>
          <p:cNvSpPr/>
          <p:nvPr/>
        </p:nvSpPr>
        <p:spPr>
          <a:xfrm>
            <a:off x="1234440" y="39319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Each member records their actual contribution.</a:t>
            </a:r>
            <a:endParaRPr lang="en-US" sz="1900" dirty="0"/>
          </a:p>
        </p:txBody>
      </p:sp>
      <p:sp>
        <p:nvSpPr>
          <p:cNvPr id="12" name="Text 10"/>
          <p:cNvSpPr/>
          <p:nvPr/>
        </p:nvSpPr>
        <p:spPr>
          <a:xfrm>
            <a:off x="640080" y="4617720"/>
            <a:ext cx="411480" cy="365760"/>
          </a:xfrm>
          <a:prstGeom prst="rect">
            <a:avLst/>
          </a:prstGeom>
          <a:noFill/>
          <a:ln/>
        </p:spPr>
        <p:txBody>
          <a:bodyPr wrap="square" lIns="0" tIns="0" rIns="0" bIns="0" rtlCol="0" anchor="ctr"/>
          <a:lstStyle/>
          <a:p>
            <a:pPr indent="0" marL="0">
              <a:buNone/>
            </a:pPr>
            <a:r>
              <a:rPr lang="en-US" sz="1600" b="1" dirty="0">
                <a:solidFill>
                  <a:srgbClr val="6D28D9"/>
                </a:solidFill>
                <a:latin typeface="Arial" pitchFamily="34" charset="0"/>
                <a:ea typeface="Arial" pitchFamily="34" charset="-122"/>
                <a:cs typeface="Arial" pitchFamily="34" charset="-120"/>
              </a:rPr>
              <a:t>04</a:t>
            </a:r>
            <a:endParaRPr lang="en-US" sz="1600" dirty="0"/>
          </a:p>
        </p:txBody>
      </p:sp>
      <p:sp>
        <p:nvSpPr>
          <p:cNvPr id="13" name="Text 11"/>
          <p:cNvSpPr/>
          <p:nvPr/>
        </p:nvSpPr>
        <p:spPr>
          <a:xfrm>
            <a:off x="1234440" y="4617720"/>
            <a:ext cx="5806440" cy="566928"/>
          </a:xfrm>
          <a:prstGeom prst="rect">
            <a:avLst/>
          </a:prstGeom>
          <a:noFill/>
          <a:ln/>
        </p:spPr>
        <p:txBody>
          <a:bodyPr wrap="square" lIns="0" tIns="0" rIns="0" bIns="0" rtlCol="0" anchor="ctr"/>
          <a:lstStyle/>
          <a:p>
            <a:pPr indent="0" marL="0">
              <a:buNone/>
            </a:pPr>
            <a:r>
              <a:rPr lang="en-US" sz="1900" dirty="0">
                <a:solidFill>
                  <a:srgbClr val="211D35"/>
                </a:solidFill>
                <a:latin typeface="Arial" pitchFamily="34" charset="0"/>
                <a:ea typeface="Arial" pitchFamily="34" charset="-122"/>
                <a:cs typeface="Arial" pitchFamily="34" charset="-120"/>
              </a:rPr>
              <a:t>Approve hotline, policy, support and native signing details.</a:t>
            </a:r>
            <a:endParaRPr lang="en-US" sz="1900" dirty="0"/>
          </a:p>
        </p:txBody>
      </p:sp>
      <p:sp>
        <p:nvSpPr>
          <p:cNvPr id="14" name="Shape 12"/>
          <p:cNvSpPr/>
          <p:nvPr/>
        </p:nvSpPr>
        <p:spPr>
          <a:xfrm>
            <a:off x="7680960" y="2743200"/>
            <a:ext cx="3840480" cy="2651760"/>
          </a:xfrm>
          <a:prstGeom prst="roundRect">
            <a:avLst/>
          </a:prstGeom>
          <a:solidFill>
            <a:srgbClr val="241747"/>
          </a:solidFill>
          <a:ln w="12700">
            <a:solidFill>
              <a:srgbClr val="241747"/>
            </a:solidFill>
            <a:prstDash val="solid"/>
          </a:ln>
        </p:spPr>
      </p:sp>
      <p:sp>
        <p:nvSpPr>
          <p:cNvPr id="15" name="Text 13"/>
          <p:cNvSpPr/>
          <p:nvPr/>
        </p:nvSpPr>
        <p:spPr>
          <a:xfrm>
            <a:off x="7955280" y="3017520"/>
            <a:ext cx="3200400" cy="45720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Verified locally</a:t>
            </a:r>
            <a:endParaRPr lang="en-US" sz="2300" dirty="0"/>
          </a:p>
        </p:txBody>
      </p:sp>
      <p:sp>
        <p:nvSpPr>
          <p:cNvPr id="16" name="Text 14"/>
          <p:cNvSpPr/>
          <p:nvPr/>
        </p:nvSpPr>
        <p:spPr>
          <a:xfrm>
            <a:off x="7955280" y="3657600"/>
            <a:ext cx="3200400" cy="1188720"/>
          </a:xfrm>
          <a:prstGeom prst="rect">
            <a:avLst/>
          </a:prstGeom>
          <a:noFill/>
          <a:ln/>
        </p:spPr>
        <p:txBody>
          <a:bodyPr wrap="square" lIns="0" tIns="0" rIns="0" bIns="0" rtlCol="0" anchor="ctr"/>
          <a:lstStyle/>
          <a:p>
            <a:pPr indent="0" marL="0">
              <a:buNone/>
            </a:pPr>
            <a:r>
              <a:rPr lang="en-US" sz="1900" dirty="0">
                <a:solidFill>
                  <a:srgbClr val="FFFFFF"/>
                </a:solidFill>
                <a:latin typeface="Arial" pitchFamily="34" charset="0"/>
                <a:ea typeface="Arial" pitchFamily="34" charset="-122"/>
                <a:cs typeface="Arial" pitchFamily="34" charset="-120"/>
              </a:rPr>
              <a:t>Chrome preview</a:t>
            </a:r>
            <a:endParaRPr lang="en-US" sz="1900" dirty="0"/>
          </a:p>
          <a:p>
            <a:pPr indent="0" marL="0">
              <a:buNone/>
            </a:pPr>
            <a:r>
              <a:rPr lang="en-US" sz="1900" dirty="0">
                <a:solidFill>
                  <a:srgbClr val="FFFFFF"/>
                </a:solidFill>
                <a:latin typeface="Arial" pitchFamily="34" charset="0"/>
                <a:ea typeface="Arial" pitchFamily="34" charset="-122"/>
                <a:cs typeface="Arial" pitchFamily="34" charset="-120"/>
              </a:rPr>
              <a:t>Widget and golden tests</a:t>
            </a:r>
            <a:endParaRPr lang="en-US" sz="1900" dirty="0"/>
          </a:p>
          <a:p>
            <a:pPr indent="0" marL="0">
              <a:buNone/>
            </a:pPr>
            <a:r>
              <a:rPr lang="en-US" sz="1900" dirty="0">
                <a:solidFill>
                  <a:srgbClr val="FFFFFF"/>
                </a:solidFill>
                <a:latin typeface="Arial" pitchFamily="34" charset="0"/>
                <a:ea typeface="Arial" pitchFamily="34" charset="-122"/>
                <a:cs typeface="Arial" pitchFamily="34" charset="-120"/>
              </a:rPr>
              <a:t>Android debug compilation</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Rescue Reports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Rescue Reports | User guide</dc:title>
  <dc:subject>Operating guide: resident, responder and staff workspaces</dc:subject>
  <dc:creator>Rescue Reports project</dc:creator>
  <cp:lastModifiedBy>Rescue Reports project</cp:lastModifiedBy>
  <cp:revision>1</cp:revision>
  <dcterms:created xsi:type="dcterms:W3CDTF">2026-10-20T09:04:52Z</dcterms:created>
  <dcterms:modified xsi:type="dcterms:W3CDTF">2026-10-20T09:04:52Z</dcterms:modified>
</cp:coreProperties>
</file>