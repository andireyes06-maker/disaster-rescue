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 uses current Flutter Chrome captures and one identified widget notification fixture, with fictional accounts. Debug ribbons are retained. Some Chrome captures hide only the SDK warning to show the navigation dock; product source does not hide it. This is not a physical-device or signed-release certification. A report does not guarantee immediate rescue.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supplied general brief requires web and mobile, not every staff workspace duplicated natively. Preserve resident/responder mobile scope. Route permissions remain authoritative. Admin is not API-only.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actual welcome actions. Its service labels describe the workflow, not live incidents. Required account fields show asterisks. Do not show real passwords in a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delivery requires configured Cloudinary. Do not present mock coverage as real provider evidence. A failed location permission leaves manual map selection available. The screenshot shows an unselected location and disabled Next with an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storage-failure notices. Do not promise retry protection survives every restart. Native responder attempts remain in memory and are cleared on access/identity loss. Five unresolved payloads are retained per report; the sixth is blocked. Discard is explicit and removes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native widget-rendered notification fixture, not physical-device evidence or proof of push delivery. The in-app feed and unread treatment are real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Recently closed is read-only. A notification alone grants no access. Team and account permissions are checked by server and Firestore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rescued and Status are marked required. The running-app record and retry tests cover local saves and history. The submission rehearsal is recorded separately. The screenshot is before submission. Avoid a new key when the outcome is uncertain.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image is responder report detail with progress history, not the resident My Reports list. The screenshot shows the history empty state; the bounded populated/paging behavior is covered by tests and the submission rehearsal. No real rescue count is claimed. An offline page cannot discover remote revocation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routes are in docs/documentation/how-it-works.md and web/src/App.tsx. Demonstrate only permitted actions, in isolated test data. Dispatcher and DMO accounts have no operational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schema.md for reports, updates, users, teams, notifications, audits and server-only recovery ledgers. The diagram abstracts authenticated reads. API Admin SDK owns operational writes; direct client Firestore writes are denied. Do not describe Firestore as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preview is not the final group video. Native permissions, push delivery, restart, TalkBack/VoiceOver and signed iOS/Android releases remain distinct gates. Use current dated test counts from the finish record. Do not invent members, official authority or policy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01</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Report clearly.</a:t>
            </a:r>
            <a:endParaRPr lang="en-US" sz="3600" dirty="0"/>
          </a:p>
          <a:p>
            <a:pPr indent="0" marL="0">
              <a:buNone/>
            </a:pPr>
            <a:r>
              <a:rPr lang="en-US" sz="3600" b="1" dirty="0">
                <a:solidFill>
                  <a:srgbClr val="211D35"/>
                </a:solidFill>
                <a:latin typeface="Arial" pitchFamily="34" charset="0"/>
                <a:ea typeface="Arial" pitchFamily="34" charset="-122"/>
                <a:cs typeface="Arial" pitchFamily="34" charset="-120"/>
              </a:rPr>
              <a:t>Respond together.</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User guide · web and mobile · 25 October 2026</a:t>
            </a:r>
            <a:endParaRPr lang="en-US" sz="1600" dirty="0"/>
          </a:p>
        </p:txBody>
      </p:sp>
      <p:sp>
        <p:nvSpPr>
          <p:cNvPr id="6" name="Shape 4"/>
          <p:cNvSpPr/>
          <p:nvPr/>
        </p:nvSpPr>
        <p:spPr>
          <a:xfrm>
            <a:off x="594360" y="2834640"/>
            <a:ext cx="6217920" cy="2194560"/>
          </a:xfrm>
          <a:prstGeom prst="roundRect">
            <a:avLst>
              <a:gd name="adj" fmla="val 6250"/>
            </a:avLst>
          </a:prstGeom>
          <a:solidFill>
            <a:srgbClr val="241747"/>
          </a:solidFill>
          <a:ln w="12700">
            <a:solidFill>
              <a:srgbClr val="241747"/>
            </a:solidFill>
            <a:prstDash val="solid"/>
          </a:ln>
        </p:spPr>
      </p:sp>
      <p:sp>
        <p:nvSpPr>
          <p:cNvPr id="7" name="Text 5"/>
          <p:cNvSpPr/>
          <p:nvPr/>
        </p:nvSpPr>
        <p:spPr>
          <a:xfrm>
            <a:off x="914400" y="3154680"/>
            <a:ext cx="5394960" cy="137160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A clear report.</a:t>
            </a:r>
            <a:endParaRPr lang="en-US" sz="2800" dirty="0"/>
          </a:p>
          <a:p>
            <a:pPr indent="0" marL="0">
              <a:buNone/>
            </a:pPr>
            <a:r>
              <a:rPr lang="en-US" sz="2800" b="1" dirty="0">
                <a:solidFill>
                  <a:srgbClr val="FFFFFF"/>
                </a:solidFill>
                <a:latin typeface="Arial" pitchFamily="34" charset="0"/>
                <a:ea typeface="Arial" pitchFamily="34" charset="-122"/>
                <a:cs typeface="Arial" pitchFamily="34" charset="-120"/>
              </a:rPr>
              <a:t>A connected response.</a:t>
            </a:r>
            <a:endParaRPr lang="en-US" sz="2800" dirty="0"/>
          </a:p>
        </p:txBody>
      </p:sp>
      <p:pic>
        <p:nvPicPr>
          <p:cNvPr id="8" name="Image 0" descr="/Users/rien/Documents/FINAL_PROJECT-rescuer-web/docs/user-guide/images/welcome-390-r2.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02</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Choose your workspace</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One system; each role has a focused workspace.</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2697480"/>
          <a:ext cx="10881360" cy="3108960"/>
        </p:xfrm>
        <a:graphic>
          <a:graphicData uri="http://schemas.openxmlformats.org/drawingml/2006/table">
            <a:tbl>
              <a:tblPr/>
              <a:tblGrid>
                <a:gridCol w="1828800"/>
                <a:gridCol w="3840480"/>
                <a:gridCol w="5212080"/>
              </a:tblGrid>
              <a:tr h="502920">
                <a:tc>
                  <a:txBody>
                    <a:bodyPr/>
                    <a:lstStyle/>
                    <a:p>
                      <a:pPr indent="0" marL="0">
                        <a:buNone/>
                      </a:pPr>
                      <a:r>
                        <a:rPr lang="en-US" sz="1700" b="1" dirty="0">
                          <a:solidFill>
                            <a:srgbClr val="211D35"/>
                          </a:solidFill>
                          <a:latin typeface="Arial" pitchFamily="34" charset="0"/>
                          <a:ea typeface="Arial" pitchFamily="34" charset="-122"/>
                          <a:cs typeface="Arial" pitchFamily="34" charset="-120"/>
                        </a:rPr>
                        <a:t>Role</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b="1" dirty="0">
                          <a:solidFill>
                            <a:srgbClr val="211D35"/>
                          </a:solidFill>
                          <a:latin typeface="Arial" pitchFamily="34" charset="0"/>
                          <a:ea typeface="Arial" pitchFamily="34" charset="-122"/>
                          <a:cs typeface="Arial" pitchFamily="34" charset="-120"/>
                        </a:rPr>
                        <a:t>Entry</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b="1" dirty="0">
                          <a:solidFill>
                            <a:srgbClr val="211D35"/>
                          </a:solidFill>
                          <a:latin typeface="Arial" pitchFamily="34" charset="0"/>
                          <a:ea typeface="Arial" pitchFamily="34" charset="-122"/>
                          <a:cs typeface="Arial" pitchFamily="34" charset="-120"/>
                        </a:rPr>
                        <a:t>Work</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r>
              <a:tr h="502920">
                <a:tc>
                  <a:txBody>
                    <a:bodyPr/>
                    <a:lstStyle/>
                    <a:p>
                      <a:pPr indent="0" marL="0">
                        <a:buNone/>
                      </a:pPr>
                      <a:r>
                        <a:rPr lang="en-US" sz="1700" dirty="0">
                          <a:solidFill>
                            <a:srgbClr val="211D35"/>
                          </a:solidFill>
                          <a:latin typeface="Arial" pitchFamily="34" charset="0"/>
                          <a:ea typeface="Arial" pitchFamily="34" charset="-122"/>
                          <a:cs typeface="Arial" pitchFamily="34" charset="-120"/>
                        </a:rPr>
                        <a:t>Resident</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Phone app only</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Report and follow your own incidents</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r>
              <a:tr h="502920">
                <a:tc>
                  <a:txBody>
                    <a:bodyPr/>
                    <a:lstStyle/>
                    <a:p>
                      <a:pPr indent="0" marL="0">
                        <a:buNone/>
                      </a:pPr>
                      <a:r>
                        <a:rPr lang="en-US" sz="1700" dirty="0">
                          <a:solidFill>
                            <a:srgbClr val="211D35"/>
                          </a:solidFill>
                          <a:latin typeface="Arial" pitchFamily="34" charset="0"/>
                          <a:ea typeface="Arial" pitchFamily="34" charset="-122"/>
                          <a:cs typeface="Arial" pitchFamily="34" charset="-120"/>
                        </a:rPr>
                        <a:t>Rescuer (responder)</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Phone app or web /assignments</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Current-team assignments, progress and closed reports</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r>
              <a:tr h="502920">
                <a:tc>
                  <a:txBody>
                    <a:bodyPr/>
                    <a:lstStyle/>
                    <a:p>
                      <a:pPr indent="0" marL="0">
                        <a:buNone/>
                      </a:pPr>
                      <a:r>
                        <a:rPr lang="en-US" sz="1700" dirty="0">
                          <a:solidFill>
                            <a:srgbClr val="211D35"/>
                          </a:solidFill>
                          <a:latin typeface="Arial" pitchFamily="34" charset="0"/>
                          <a:ea typeface="Arial" pitchFamily="34" charset="-122"/>
                          <a:cs typeface="Arial" pitchFamily="34" charset="-120"/>
                        </a:rPr>
                        <a:t>Administrator</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Web only: /dashboard, /admin</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Verify, assign, close, manage teams and users, analytics and exports</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r>
              <a:tr h="502920">
                <a:tc>
                  <a:txBody>
                    <a:bodyPr/>
                    <a:lstStyle/>
                    <a:p>
                      <a:pPr indent="0" marL="0">
                        <a:buNone/>
                      </a:pPr>
                      <a:r>
                        <a:rPr lang="en-US" sz="1700" dirty="0">
                          <a:solidFill>
                            <a:srgbClr val="211D35"/>
                          </a:solidFill>
                          <a:latin typeface="Arial" pitchFamily="34" charset="0"/>
                          <a:ea typeface="Arial" pitchFamily="34" charset="-122"/>
                          <a:cs typeface="Arial" pitchFamily="34" charset="-120"/>
                        </a:rPr>
                        <a:t>Dispatcher and DMO</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No access (retired)</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Accounts and history kept; the administrator does their work</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03</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Start with the welcome screen</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Create a resident account, or sign in with an existing account.</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Create a resident account in the phone app.</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Residents use the phone app only.</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Rescuers can sign in on the phone or the website.</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Administrators use the website only.</a:t>
            </a:r>
            <a:endParaRPr lang="en-US" sz="1900" dirty="0"/>
          </a:p>
        </p:txBody>
      </p:sp>
      <p:pic>
        <p:nvPicPr>
          <p:cNvPr id="14" name="Image 0" descr="/Users/rien/Documents/FINAL_PROJECT-rescuer-web/docs/user-guide/images/welcome-390-r2.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04</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Send a resident report</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Four steps keep the location and details together.</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Choose the emergency type.</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Use GPS or choose a point on the map.</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Describe the situation; add contact details and optional photos.</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Review, submit, and keep the confirmed reference.</a:t>
            </a:r>
            <a:endParaRPr lang="en-US" sz="1900" dirty="0"/>
          </a:p>
        </p:txBody>
      </p:sp>
      <p:pic>
        <p:nvPicPr>
          <p:cNvPr id="14" name="Image 0" descr="/Users/rien/Documents/FINAL_PROJECT-rescuer-web/docs/user-guide/images/location-390.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05</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A lost reply is an uncertain result</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Check before creating another report or update.</a:t>
            </a:r>
            <a:endParaRPr lang="en-US" sz="1600" dirty="0"/>
          </a:p>
        </p:txBody>
      </p:sp>
      <p:sp>
        <p:nvSpPr>
          <p:cNvPr id="6" name="Shape 4"/>
          <p:cNvSpPr/>
          <p:nvPr/>
        </p:nvSpPr>
        <p:spPr>
          <a:xfrm>
            <a:off x="640080" y="2834640"/>
            <a:ext cx="3520440" cy="2194560"/>
          </a:xfrm>
          <a:prstGeom prst="roundRect">
            <a:avLst/>
          </a:prstGeom>
          <a:solidFill>
            <a:srgbClr val="FFFFFF"/>
          </a:solidFill>
          <a:ln w="12700">
            <a:solidFill>
              <a:srgbClr val="E5E3ED"/>
            </a:solidFill>
            <a:prstDash val="solid"/>
          </a:ln>
        </p:spPr>
      </p:sp>
      <p:sp>
        <p:nvSpPr>
          <p:cNvPr id="7" name="Text 5"/>
          <p:cNvSpPr/>
          <p:nvPr/>
        </p:nvSpPr>
        <p:spPr>
          <a:xfrm>
            <a:off x="868680" y="3108960"/>
            <a:ext cx="3017520" cy="548640"/>
          </a:xfrm>
          <a:prstGeom prst="rect">
            <a:avLst/>
          </a:prstGeom>
          <a:noFill/>
          <a:ln/>
        </p:spPr>
        <p:txBody>
          <a:bodyPr wrap="square" lIns="0" tIns="0" rIns="0" bIns="0" rtlCol="0" anchor="ctr"/>
          <a:lstStyle/>
          <a:p>
            <a:pPr indent="0" marL="0">
              <a:buNone/>
            </a:pPr>
            <a:r>
              <a:rPr lang="en-US" sz="2300" b="1" dirty="0">
                <a:solidFill>
                  <a:srgbClr val="211D35"/>
                </a:solidFill>
                <a:latin typeface="Arial" pitchFamily="34" charset="0"/>
                <a:ea typeface="Arial" pitchFamily="34" charset="-122"/>
                <a:cs typeface="Arial" pitchFamily="34" charset="-120"/>
              </a:rPr>
              <a:t>Keep your entries</a:t>
            </a:r>
            <a:endParaRPr lang="en-US" sz="2300" dirty="0"/>
          </a:p>
        </p:txBody>
      </p:sp>
      <p:sp>
        <p:nvSpPr>
          <p:cNvPr id="8" name="Text 6"/>
          <p:cNvSpPr/>
          <p:nvPr/>
        </p:nvSpPr>
        <p:spPr>
          <a:xfrm>
            <a:off x="868680" y="3794760"/>
            <a:ext cx="3017520" cy="914400"/>
          </a:xfrm>
          <a:prstGeom prst="rect">
            <a:avLst/>
          </a:prstGeom>
          <a:noFill/>
          <a:ln/>
        </p:spPr>
        <p:txBody>
          <a:bodyPr wrap="square" lIns="0" tIns="0" rIns="0" bIns="0" rtlCol="0" anchor="ctr"/>
          <a:lstStyle/>
          <a:p>
            <a:pPr indent="0" marL="0">
              <a:buNone/>
            </a:pPr>
            <a:r>
              <a:rPr lang="en-US" sz="1800" dirty="0">
                <a:solidFill>
                  <a:srgbClr val="625E73"/>
                </a:solidFill>
                <a:latin typeface="Arial" pitchFamily="34" charset="0"/>
                <a:ea typeface="Arial" pitchFamily="34" charset="-122"/>
                <a:cs typeface="Arial" pitchFamily="34" charset="-120"/>
              </a:rPr>
              <a:t>A timeout may occur after the server saved the action.</a:t>
            </a:r>
            <a:endParaRPr lang="en-US" sz="1800" dirty="0"/>
          </a:p>
        </p:txBody>
      </p:sp>
      <p:sp>
        <p:nvSpPr>
          <p:cNvPr id="9" name="Shape 7"/>
          <p:cNvSpPr/>
          <p:nvPr/>
        </p:nvSpPr>
        <p:spPr>
          <a:xfrm>
            <a:off x="4389120" y="2834640"/>
            <a:ext cx="3520440" cy="2194560"/>
          </a:xfrm>
          <a:prstGeom prst="roundRect">
            <a:avLst/>
          </a:prstGeom>
          <a:solidFill>
            <a:srgbClr val="241747"/>
          </a:solidFill>
          <a:ln w="12700">
            <a:solidFill>
              <a:srgbClr val="E5E3ED"/>
            </a:solidFill>
            <a:prstDash val="solid"/>
          </a:ln>
        </p:spPr>
      </p:sp>
      <p:sp>
        <p:nvSpPr>
          <p:cNvPr id="10" name="Text 8"/>
          <p:cNvSpPr/>
          <p:nvPr/>
        </p:nvSpPr>
        <p:spPr>
          <a:xfrm>
            <a:off x="4617720" y="3108960"/>
            <a:ext cx="3017520" cy="54864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Retry the same attempt</a:t>
            </a:r>
            <a:endParaRPr lang="en-US" sz="2300" dirty="0"/>
          </a:p>
        </p:txBody>
      </p:sp>
      <p:sp>
        <p:nvSpPr>
          <p:cNvPr id="11" name="Text 9"/>
          <p:cNvSpPr/>
          <p:nvPr/>
        </p:nvSpPr>
        <p:spPr>
          <a:xfrm>
            <a:off x="4617720" y="3794760"/>
            <a:ext cx="3017520" cy="91440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The existing key protects retries of unchanged content.</a:t>
            </a:r>
            <a:endParaRPr lang="en-US" sz="1800" dirty="0"/>
          </a:p>
        </p:txBody>
      </p:sp>
      <p:sp>
        <p:nvSpPr>
          <p:cNvPr id="12" name="Shape 10"/>
          <p:cNvSpPr/>
          <p:nvPr/>
        </p:nvSpPr>
        <p:spPr>
          <a:xfrm>
            <a:off x="8138160" y="2834640"/>
            <a:ext cx="3520440" cy="2194560"/>
          </a:xfrm>
          <a:prstGeom prst="roundRect">
            <a:avLst/>
          </a:prstGeom>
          <a:solidFill>
            <a:srgbClr val="FFFFFF"/>
          </a:solidFill>
          <a:ln w="12700">
            <a:solidFill>
              <a:srgbClr val="E5E3ED"/>
            </a:solidFill>
            <a:prstDash val="solid"/>
          </a:ln>
        </p:spPr>
      </p:sp>
      <p:sp>
        <p:nvSpPr>
          <p:cNvPr id="13" name="Text 11"/>
          <p:cNvSpPr/>
          <p:nvPr/>
        </p:nvSpPr>
        <p:spPr>
          <a:xfrm>
            <a:off x="8366760" y="3108960"/>
            <a:ext cx="3017520" cy="548640"/>
          </a:xfrm>
          <a:prstGeom prst="rect">
            <a:avLst/>
          </a:prstGeom>
          <a:noFill/>
          <a:ln/>
        </p:spPr>
        <p:txBody>
          <a:bodyPr wrap="square" lIns="0" tIns="0" rIns="0" bIns="0" rtlCol="0" anchor="ctr"/>
          <a:lstStyle/>
          <a:p>
            <a:pPr indent="0" marL="0">
              <a:buNone/>
            </a:pPr>
            <a:r>
              <a:rPr lang="en-US" sz="2300" b="1" dirty="0">
                <a:solidFill>
                  <a:srgbClr val="211D35"/>
                </a:solidFill>
                <a:latin typeface="Arial" pitchFamily="34" charset="0"/>
                <a:ea typeface="Arial" pitchFamily="34" charset="-122"/>
                <a:cs typeface="Arial" pitchFamily="34" charset="-120"/>
              </a:rPr>
              <a:t>Review the history</a:t>
            </a:r>
            <a:endParaRPr lang="en-US" sz="2300" dirty="0"/>
          </a:p>
        </p:txBody>
      </p:sp>
      <p:sp>
        <p:nvSpPr>
          <p:cNvPr id="14" name="Text 12"/>
          <p:cNvSpPr/>
          <p:nvPr/>
        </p:nvSpPr>
        <p:spPr>
          <a:xfrm>
            <a:off x="8366760" y="3794760"/>
            <a:ext cx="3017520" cy="914400"/>
          </a:xfrm>
          <a:prstGeom prst="rect">
            <a:avLst/>
          </a:prstGeom>
          <a:noFill/>
          <a:ln/>
        </p:spPr>
        <p:txBody>
          <a:bodyPr wrap="square" lIns="0" tIns="0" rIns="0" bIns="0" rtlCol="0" anchor="ctr"/>
          <a:lstStyle/>
          <a:p>
            <a:pPr indent="0" marL="0">
              <a:buNone/>
            </a:pPr>
            <a:r>
              <a:rPr lang="en-US" sz="1800" dirty="0">
                <a:solidFill>
                  <a:srgbClr val="625E73"/>
                </a:solidFill>
                <a:latin typeface="Arial" pitchFamily="34" charset="0"/>
                <a:ea typeface="Arial" pitchFamily="34" charset="-122"/>
                <a:cs typeface="Arial" pitchFamily="34" charset="-120"/>
              </a:rPr>
              <a:t>Confirm what was received before explicitly discarding uncertain attempts.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06</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Follow reports and notifications</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Status history and in-app notifications explain the next step.</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My Reports separates active and historical reports.</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Open a report for status and progress history.</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Use the bell to open resident notifications.</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Push failure does not remove in-app notifications.</a:t>
            </a:r>
            <a:endParaRPr lang="en-US" sz="1900" dirty="0"/>
          </a:p>
        </p:txBody>
      </p:sp>
      <p:pic>
        <p:nvPicPr>
          <p:cNvPr id="14" name="Image 0" descr="/Users/rien/Documents/FINAL_PROJECT-rescuer-web/docs/user-guide/images/notifications-390.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07</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Review your assignments</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Responders see work assigned to their current team.</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Open Assigned → Active.</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Review the incident and its location.</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Acknowledge the assignment.</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Open the map handler when needed.</a:t>
            </a:r>
            <a:endParaRPr lang="en-US" sz="1900" dirty="0"/>
          </a:p>
        </p:txBody>
      </p:sp>
      <p:pic>
        <p:nvPicPr>
          <p:cNvPr id="14" name="Image 0" descr="/Users/rien/Documents/FINAL_PROJECT-rescuer-web/docs/user-guide/images/assigned-390.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08</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Record an operation update</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Use required fields, then wait for confirmation.</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Choose an allowed status.</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Enter the number of people rescued.</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Add an optional factual note.</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Save and confirm the new progress-history entry.</a:t>
            </a:r>
            <a:endParaRPr lang="en-US" sz="1900" dirty="0"/>
          </a:p>
        </p:txBody>
      </p:sp>
      <p:pic>
        <p:nvPicPr>
          <p:cNvPr id="14" name="Image 0" descr="/Users/rien/Documents/FINAL_PROJECT-rescuer-web/docs/user-guide/images/update-390.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09</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Read progress history</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Show more reveals entries; Load older fetches the next window.</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The newest 20 entries are fetched first.</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Five entries are initially displayed.</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Recently closed remains read-only.</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Access changes clear protected history and drafts.</a:t>
            </a:r>
            <a:endParaRPr lang="en-US" sz="1900" dirty="0"/>
          </a:p>
        </p:txBody>
      </p:sp>
      <p:pic>
        <p:nvPicPr>
          <p:cNvPr id="14" name="Image 0" descr="/Users/rien/Documents/FINAL_PROJECT-rescuer-web/docs/user-guide/images/history-390.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10</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Work from the website</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Administrators and rescuers have web workspaces. Residents do not.</a:t>
            </a:r>
            <a:endParaRPr lang="en-US" sz="1600" dirty="0"/>
          </a:p>
        </p:txBody>
      </p:sp>
      <p:sp>
        <p:nvSpPr>
          <p:cNvPr id="6" name="Shape 4"/>
          <p:cNvSpPr/>
          <p:nvPr/>
        </p:nvSpPr>
        <p:spPr>
          <a:xfrm>
            <a:off x="640080" y="2834640"/>
            <a:ext cx="3520440" cy="2377440"/>
          </a:xfrm>
          <a:prstGeom prst="roundRect">
            <a:avLst/>
          </a:prstGeom>
          <a:solidFill>
            <a:srgbClr val="FFFFFF"/>
          </a:solidFill>
          <a:ln w="12700">
            <a:solidFill>
              <a:srgbClr val="E5E3ED"/>
            </a:solidFill>
            <a:prstDash val="solid"/>
          </a:ln>
        </p:spPr>
      </p:sp>
      <p:sp>
        <p:nvSpPr>
          <p:cNvPr id="7" name="Text 5"/>
          <p:cNvSpPr/>
          <p:nvPr/>
        </p:nvSpPr>
        <p:spPr>
          <a:xfrm>
            <a:off x="868680" y="3108960"/>
            <a:ext cx="3017520" cy="548640"/>
          </a:xfrm>
          <a:prstGeom prst="rect">
            <a:avLst/>
          </a:prstGeom>
          <a:noFill/>
          <a:ln/>
        </p:spPr>
        <p:txBody>
          <a:bodyPr wrap="square" lIns="0" tIns="0" rIns="0" bIns="0" rtlCol="0" anchor="ctr"/>
          <a:lstStyle/>
          <a:p>
            <a:pPr indent="0" marL="0">
              <a:buNone/>
            </a:pPr>
            <a:r>
              <a:rPr lang="en-US" sz="2500" b="1" dirty="0">
                <a:solidFill>
                  <a:srgbClr val="6D28D9"/>
                </a:solidFill>
                <a:latin typeface="Arial" pitchFamily="34" charset="0"/>
                <a:ea typeface="Arial" pitchFamily="34" charset="-122"/>
                <a:cs typeface="Arial" pitchFamily="34" charset="-120"/>
              </a:rPr>
              <a:t>Administrator</a:t>
            </a:r>
            <a:endParaRPr lang="en-US" sz="2500" dirty="0"/>
          </a:p>
        </p:txBody>
      </p:sp>
      <p:sp>
        <p:nvSpPr>
          <p:cNvPr id="8" name="Text 6"/>
          <p:cNvSpPr/>
          <p:nvPr/>
        </p:nvSpPr>
        <p:spPr>
          <a:xfrm>
            <a:off x="868680" y="3794760"/>
            <a:ext cx="3017520" cy="1051560"/>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Queue → validate → prioritize → assign → close. Teams, users, analytics, exports.</a:t>
            </a:r>
            <a:endParaRPr lang="en-US" sz="1900" dirty="0"/>
          </a:p>
        </p:txBody>
      </p:sp>
      <p:sp>
        <p:nvSpPr>
          <p:cNvPr id="9" name="Shape 7"/>
          <p:cNvSpPr/>
          <p:nvPr/>
        </p:nvSpPr>
        <p:spPr>
          <a:xfrm>
            <a:off x="4389120" y="2834640"/>
            <a:ext cx="3520440" cy="2377440"/>
          </a:xfrm>
          <a:prstGeom prst="roundRect">
            <a:avLst/>
          </a:prstGeom>
          <a:solidFill>
            <a:srgbClr val="FFFFFF"/>
          </a:solidFill>
          <a:ln w="12700">
            <a:solidFill>
              <a:srgbClr val="E5E3ED"/>
            </a:solidFill>
            <a:prstDash val="solid"/>
          </a:ln>
        </p:spPr>
      </p:sp>
      <p:sp>
        <p:nvSpPr>
          <p:cNvPr id="10" name="Text 8"/>
          <p:cNvSpPr/>
          <p:nvPr/>
        </p:nvSpPr>
        <p:spPr>
          <a:xfrm>
            <a:off x="4617720" y="3108960"/>
            <a:ext cx="3017520" cy="548640"/>
          </a:xfrm>
          <a:prstGeom prst="rect">
            <a:avLst/>
          </a:prstGeom>
          <a:noFill/>
          <a:ln/>
        </p:spPr>
        <p:txBody>
          <a:bodyPr wrap="square" lIns="0" tIns="0" rIns="0" bIns="0" rtlCol="0" anchor="ctr"/>
          <a:lstStyle/>
          <a:p>
            <a:pPr indent="0" marL="0">
              <a:buNone/>
            </a:pPr>
            <a:r>
              <a:rPr lang="en-US" sz="2500" b="1" dirty="0">
                <a:solidFill>
                  <a:srgbClr val="6D28D9"/>
                </a:solidFill>
                <a:latin typeface="Arial" pitchFamily="34" charset="0"/>
                <a:ea typeface="Arial" pitchFamily="34" charset="-122"/>
                <a:cs typeface="Arial" pitchFamily="34" charset="-120"/>
              </a:rPr>
              <a:t>Rescuer</a:t>
            </a:r>
            <a:endParaRPr lang="en-US" sz="2500" dirty="0"/>
          </a:p>
        </p:txBody>
      </p:sp>
      <p:sp>
        <p:nvSpPr>
          <p:cNvPr id="11" name="Text 9"/>
          <p:cNvSpPr/>
          <p:nvPr/>
        </p:nvSpPr>
        <p:spPr>
          <a:xfrm>
            <a:off x="4617720" y="3794760"/>
            <a:ext cx="3017520" cy="1051560"/>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Your team’s assignments and closed reports. Post progress as on the phone.</a:t>
            </a:r>
            <a:endParaRPr lang="en-US" sz="1900" dirty="0"/>
          </a:p>
        </p:txBody>
      </p:sp>
      <p:sp>
        <p:nvSpPr>
          <p:cNvPr id="12" name="Shape 10"/>
          <p:cNvSpPr/>
          <p:nvPr/>
        </p:nvSpPr>
        <p:spPr>
          <a:xfrm>
            <a:off x="8138160" y="2834640"/>
            <a:ext cx="3520440" cy="2377440"/>
          </a:xfrm>
          <a:prstGeom prst="roundRect">
            <a:avLst/>
          </a:prstGeom>
          <a:solidFill>
            <a:srgbClr val="FFFFFF"/>
          </a:solidFill>
          <a:ln w="12700">
            <a:solidFill>
              <a:srgbClr val="E5E3ED"/>
            </a:solidFill>
            <a:prstDash val="solid"/>
          </a:ln>
        </p:spPr>
      </p:sp>
      <p:sp>
        <p:nvSpPr>
          <p:cNvPr id="13" name="Text 11"/>
          <p:cNvSpPr/>
          <p:nvPr/>
        </p:nvSpPr>
        <p:spPr>
          <a:xfrm>
            <a:off x="8366760" y="3108960"/>
            <a:ext cx="3017520" cy="548640"/>
          </a:xfrm>
          <a:prstGeom prst="rect">
            <a:avLst/>
          </a:prstGeom>
          <a:noFill/>
          <a:ln/>
        </p:spPr>
        <p:txBody>
          <a:bodyPr wrap="square" lIns="0" tIns="0" rIns="0" bIns="0" rtlCol="0" anchor="ctr"/>
          <a:lstStyle/>
          <a:p>
            <a:pPr indent="0" marL="0">
              <a:buNone/>
            </a:pPr>
            <a:r>
              <a:rPr lang="en-US" sz="2500" b="1" dirty="0">
                <a:solidFill>
                  <a:srgbClr val="6D28D9"/>
                </a:solidFill>
                <a:latin typeface="Arial" pitchFamily="34" charset="0"/>
                <a:ea typeface="Arial" pitchFamily="34" charset="-122"/>
                <a:cs typeface="Arial" pitchFamily="34" charset="-120"/>
              </a:rPr>
              <a:t>Dispatcher and DMO</a:t>
            </a:r>
            <a:endParaRPr lang="en-US" sz="2500" dirty="0"/>
          </a:p>
        </p:txBody>
      </p:sp>
      <p:sp>
        <p:nvSpPr>
          <p:cNvPr id="14" name="Text 12"/>
          <p:cNvSpPr/>
          <p:nvPr/>
        </p:nvSpPr>
        <p:spPr>
          <a:xfrm>
            <a:off x="8366760" y="3794760"/>
            <a:ext cx="3017520" cy="1051560"/>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Retired. Sign-in is refused; the administrator does this work.</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11</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One backend, two clients</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Operational writes use the API; reads follow Firestore permissions.</a:t>
            </a:r>
            <a:endParaRPr lang="en-US" sz="1600" dirty="0"/>
          </a:p>
        </p:txBody>
      </p:sp>
      <p:sp>
        <p:nvSpPr>
          <p:cNvPr id="6" name="Shape 4"/>
          <p:cNvSpPr/>
          <p:nvPr/>
        </p:nvSpPr>
        <p:spPr>
          <a:xfrm>
            <a:off x="640080" y="2743200"/>
            <a:ext cx="2743200" cy="914400"/>
          </a:xfrm>
          <a:prstGeom prst="roundRect">
            <a:avLst/>
          </a:prstGeom>
          <a:solidFill>
            <a:srgbClr val="FFFFFF"/>
          </a:solidFill>
          <a:ln w="12700">
            <a:solidFill>
              <a:srgbClr val="E5E3ED"/>
            </a:solidFill>
            <a:prstDash val="solid"/>
          </a:ln>
        </p:spPr>
      </p:sp>
      <p:sp>
        <p:nvSpPr>
          <p:cNvPr id="7" name="Text 5"/>
          <p:cNvSpPr/>
          <p:nvPr/>
        </p:nvSpPr>
        <p:spPr>
          <a:xfrm>
            <a:off x="822960" y="2880360"/>
            <a:ext cx="2377440" cy="640080"/>
          </a:xfrm>
          <a:prstGeom prst="rect">
            <a:avLst/>
          </a:prstGeom>
          <a:noFill/>
          <a:ln/>
        </p:spPr>
        <p:txBody>
          <a:bodyPr wrap="square" lIns="0" tIns="0" rIns="0" bIns="0" rtlCol="0" anchor="ctr"/>
          <a:lstStyle/>
          <a:p>
            <a:pPr indent="0" marL="0">
              <a:buNone/>
            </a:pPr>
            <a:r>
              <a:rPr lang="en-US" sz="2200" b="1" dirty="0">
                <a:solidFill>
                  <a:srgbClr val="211D35"/>
                </a:solidFill>
                <a:latin typeface="Arial" pitchFamily="34" charset="0"/>
                <a:ea typeface="Arial" pitchFamily="34" charset="-122"/>
                <a:cs typeface="Arial" pitchFamily="34" charset="-120"/>
              </a:rPr>
              <a:t>React web</a:t>
            </a:r>
            <a:endParaRPr lang="en-US" sz="2200" dirty="0"/>
          </a:p>
        </p:txBody>
      </p:sp>
      <p:sp>
        <p:nvSpPr>
          <p:cNvPr id="8" name="Shape 6"/>
          <p:cNvSpPr/>
          <p:nvPr/>
        </p:nvSpPr>
        <p:spPr>
          <a:xfrm>
            <a:off x="640080" y="4206240"/>
            <a:ext cx="2743200" cy="914400"/>
          </a:xfrm>
          <a:prstGeom prst="roundRect">
            <a:avLst/>
          </a:prstGeom>
          <a:solidFill>
            <a:srgbClr val="FFFFFF"/>
          </a:solidFill>
          <a:ln w="12700">
            <a:solidFill>
              <a:srgbClr val="E5E3ED"/>
            </a:solidFill>
            <a:prstDash val="solid"/>
          </a:ln>
        </p:spPr>
      </p:sp>
      <p:sp>
        <p:nvSpPr>
          <p:cNvPr id="9" name="Text 7"/>
          <p:cNvSpPr/>
          <p:nvPr/>
        </p:nvSpPr>
        <p:spPr>
          <a:xfrm>
            <a:off x="822960" y="4343400"/>
            <a:ext cx="2377440" cy="640080"/>
          </a:xfrm>
          <a:prstGeom prst="rect">
            <a:avLst/>
          </a:prstGeom>
          <a:noFill/>
          <a:ln/>
        </p:spPr>
        <p:txBody>
          <a:bodyPr wrap="square" lIns="0" tIns="0" rIns="0" bIns="0" rtlCol="0" anchor="ctr"/>
          <a:lstStyle/>
          <a:p>
            <a:pPr indent="0" marL="0">
              <a:buNone/>
            </a:pPr>
            <a:r>
              <a:rPr lang="en-US" sz="2200" b="1" dirty="0">
                <a:solidFill>
                  <a:srgbClr val="211D35"/>
                </a:solidFill>
                <a:latin typeface="Arial" pitchFamily="34" charset="0"/>
                <a:ea typeface="Arial" pitchFamily="34" charset="-122"/>
                <a:cs typeface="Arial" pitchFamily="34" charset="-120"/>
              </a:rPr>
              <a:t>Flutter</a:t>
            </a:r>
            <a:endParaRPr lang="en-US" sz="2200" dirty="0"/>
          </a:p>
        </p:txBody>
      </p:sp>
      <p:sp>
        <p:nvSpPr>
          <p:cNvPr id="10" name="Shape 8"/>
          <p:cNvSpPr/>
          <p:nvPr/>
        </p:nvSpPr>
        <p:spPr>
          <a:xfrm>
            <a:off x="4572000" y="3474720"/>
            <a:ext cx="2743200" cy="914400"/>
          </a:xfrm>
          <a:prstGeom prst="roundRect">
            <a:avLst/>
          </a:prstGeom>
          <a:solidFill>
            <a:srgbClr val="241747"/>
          </a:solidFill>
          <a:ln w="12700">
            <a:solidFill>
              <a:srgbClr val="E5E3ED"/>
            </a:solidFill>
            <a:prstDash val="solid"/>
          </a:ln>
        </p:spPr>
      </p:sp>
      <p:sp>
        <p:nvSpPr>
          <p:cNvPr id="11" name="Text 9"/>
          <p:cNvSpPr/>
          <p:nvPr/>
        </p:nvSpPr>
        <p:spPr>
          <a:xfrm>
            <a:off x="4754880" y="3611880"/>
            <a:ext cx="2377440" cy="64008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Express API</a:t>
            </a:r>
            <a:endParaRPr lang="en-US" sz="2200" dirty="0"/>
          </a:p>
        </p:txBody>
      </p:sp>
      <p:sp>
        <p:nvSpPr>
          <p:cNvPr id="12" name="Shape 10"/>
          <p:cNvSpPr/>
          <p:nvPr/>
        </p:nvSpPr>
        <p:spPr>
          <a:xfrm>
            <a:off x="8412480" y="2743200"/>
            <a:ext cx="2926080" cy="914400"/>
          </a:xfrm>
          <a:prstGeom prst="roundRect">
            <a:avLst/>
          </a:prstGeom>
          <a:solidFill>
            <a:srgbClr val="FFFFFF"/>
          </a:solidFill>
          <a:ln w="12700">
            <a:solidFill>
              <a:srgbClr val="E5E3ED"/>
            </a:solidFill>
            <a:prstDash val="solid"/>
          </a:ln>
        </p:spPr>
      </p:sp>
      <p:sp>
        <p:nvSpPr>
          <p:cNvPr id="13" name="Text 11"/>
          <p:cNvSpPr/>
          <p:nvPr/>
        </p:nvSpPr>
        <p:spPr>
          <a:xfrm>
            <a:off x="8595360" y="2880360"/>
            <a:ext cx="2560320" cy="640080"/>
          </a:xfrm>
          <a:prstGeom prst="rect">
            <a:avLst/>
          </a:prstGeom>
          <a:noFill/>
          <a:ln/>
        </p:spPr>
        <p:txBody>
          <a:bodyPr wrap="square" lIns="0" tIns="0" rIns="0" bIns="0" rtlCol="0" anchor="ctr"/>
          <a:lstStyle/>
          <a:p>
            <a:pPr indent="0" marL="0">
              <a:buNone/>
            </a:pPr>
            <a:r>
              <a:rPr lang="en-US" sz="2200" b="1" dirty="0">
                <a:solidFill>
                  <a:srgbClr val="211D35"/>
                </a:solidFill>
                <a:latin typeface="Arial" pitchFamily="34" charset="0"/>
                <a:ea typeface="Arial" pitchFamily="34" charset="-122"/>
                <a:cs typeface="Arial" pitchFamily="34" charset="-120"/>
              </a:rPr>
              <a:t>Auth / Firestore</a:t>
            </a:r>
            <a:endParaRPr lang="en-US" sz="2200" dirty="0"/>
          </a:p>
        </p:txBody>
      </p:sp>
      <p:sp>
        <p:nvSpPr>
          <p:cNvPr id="14" name="Shape 12"/>
          <p:cNvSpPr/>
          <p:nvPr/>
        </p:nvSpPr>
        <p:spPr>
          <a:xfrm>
            <a:off x="8412480" y="4206240"/>
            <a:ext cx="2926080" cy="914400"/>
          </a:xfrm>
          <a:prstGeom prst="roundRect">
            <a:avLst/>
          </a:prstGeom>
          <a:solidFill>
            <a:srgbClr val="FFFFFF"/>
          </a:solidFill>
          <a:ln w="12700">
            <a:solidFill>
              <a:srgbClr val="E5E3ED"/>
            </a:solidFill>
            <a:prstDash val="solid"/>
          </a:ln>
        </p:spPr>
      </p:sp>
      <p:sp>
        <p:nvSpPr>
          <p:cNvPr id="15" name="Text 13"/>
          <p:cNvSpPr/>
          <p:nvPr/>
        </p:nvSpPr>
        <p:spPr>
          <a:xfrm>
            <a:off x="8595360" y="4343400"/>
            <a:ext cx="2560320" cy="640080"/>
          </a:xfrm>
          <a:prstGeom prst="rect">
            <a:avLst/>
          </a:prstGeom>
          <a:noFill/>
          <a:ln/>
        </p:spPr>
        <p:txBody>
          <a:bodyPr wrap="square" lIns="0" tIns="0" rIns="0" bIns="0" rtlCol="0" anchor="ctr"/>
          <a:lstStyle/>
          <a:p>
            <a:pPr indent="0" marL="0">
              <a:buNone/>
            </a:pPr>
            <a:r>
              <a:rPr lang="en-US" sz="2200" b="1" dirty="0">
                <a:solidFill>
                  <a:srgbClr val="211D35"/>
                </a:solidFill>
                <a:latin typeface="Arial" pitchFamily="34" charset="0"/>
                <a:ea typeface="Arial" pitchFamily="34" charset="-122"/>
                <a:cs typeface="Arial" pitchFamily="34" charset="-120"/>
              </a:rPr>
              <a:t>Cloudinary / FCM</a:t>
            </a:r>
            <a:endParaRPr lang="en-US" sz="2200" dirty="0"/>
          </a:p>
        </p:txBody>
      </p:sp>
      <p:sp>
        <p:nvSpPr>
          <p:cNvPr id="16" name="Shape 14"/>
          <p:cNvSpPr/>
          <p:nvPr/>
        </p:nvSpPr>
        <p:spPr>
          <a:xfrm>
            <a:off x="3383280" y="3200400"/>
            <a:ext cx="1188720" cy="548640"/>
          </a:xfrm>
          <a:prstGeom prst="line">
            <a:avLst/>
          </a:prstGeom>
          <a:noFill/>
          <a:ln w="25400">
            <a:solidFill>
              <a:srgbClr val="6D28D9"/>
            </a:solidFill>
            <a:prstDash val="solid"/>
            <a:headEnd type="none"/>
            <a:tailEnd type="triangle"/>
          </a:ln>
        </p:spPr>
      </p:sp>
      <p:sp>
        <p:nvSpPr>
          <p:cNvPr id="17" name="Shape 15"/>
          <p:cNvSpPr/>
          <p:nvPr/>
        </p:nvSpPr>
        <p:spPr>
          <a:xfrm>
            <a:off x="3383280" y="4663440"/>
            <a:ext cx="1188720" cy="-548640"/>
          </a:xfrm>
          <a:prstGeom prst="line">
            <a:avLst/>
          </a:prstGeom>
          <a:noFill/>
          <a:ln w="25400">
            <a:solidFill>
              <a:srgbClr val="6D28D9"/>
            </a:solidFill>
            <a:prstDash val="solid"/>
            <a:headEnd type="none"/>
            <a:tailEnd type="triangle"/>
          </a:ln>
        </p:spPr>
      </p:sp>
      <p:sp>
        <p:nvSpPr>
          <p:cNvPr id="18" name="Shape 16"/>
          <p:cNvSpPr/>
          <p:nvPr/>
        </p:nvSpPr>
        <p:spPr>
          <a:xfrm>
            <a:off x="7315200" y="3749040"/>
            <a:ext cx="1097280" cy="-548640"/>
          </a:xfrm>
          <a:prstGeom prst="line">
            <a:avLst/>
          </a:prstGeom>
          <a:noFill/>
          <a:ln w="25400">
            <a:solidFill>
              <a:srgbClr val="6D28D9"/>
            </a:solidFill>
            <a:prstDash val="solid"/>
            <a:headEnd type="none"/>
            <a:tailEnd type="triangle"/>
          </a:ln>
        </p:spPr>
      </p:sp>
      <p:sp>
        <p:nvSpPr>
          <p:cNvPr id="19" name="Shape 17"/>
          <p:cNvSpPr/>
          <p:nvPr/>
        </p:nvSpPr>
        <p:spPr>
          <a:xfrm>
            <a:off x="7315200" y="4114800"/>
            <a:ext cx="1097280" cy="548640"/>
          </a:xfrm>
          <a:prstGeom prst="line">
            <a:avLst/>
          </a:prstGeom>
          <a:noFill/>
          <a:ln w="25400">
            <a:solidFill>
              <a:srgbClr val="6D28D9"/>
            </a:solidFill>
            <a:prstDash val="solid"/>
            <a:headEnd type="none"/>
            <a:tailEnd type="triangle"/>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12</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Before the final presentation</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Keep claims tied to evidence and real ownership.</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Open the PowerPoint and review the final rendering.</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Combine web/mobile footage with architecture and group narration.</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Each member records their actual contribution.</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Approve hotline, policy, support and native signing details.</a:t>
            </a:r>
            <a:endParaRPr lang="en-US" sz="1900" dirty="0"/>
          </a:p>
        </p:txBody>
      </p:sp>
      <p:sp>
        <p:nvSpPr>
          <p:cNvPr id="14" name="Shape 12"/>
          <p:cNvSpPr/>
          <p:nvPr/>
        </p:nvSpPr>
        <p:spPr>
          <a:xfrm>
            <a:off x="7680960" y="2743200"/>
            <a:ext cx="3840480" cy="2651760"/>
          </a:xfrm>
          <a:prstGeom prst="roundRect">
            <a:avLst/>
          </a:prstGeom>
          <a:solidFill>
            <a:srgbClr val="241747"/>
          </a:solidFill>
          <a:ln w="12700">
            <a:solidFill>
              <a:srgbClr val="241747"/>
            </a:solidFill>
            <a:prstDash val="solid"/>
          </a:ln>
        </p:spPr>
      </p:sp>
      <p:sp>
        <p:nvSpPr>
          <p:cNvPr id="15" name="Text 13"/>
          <p:cNvSpPr/>
          <p:nvPr/>
        </p:nvSpPr>
        <p:spPr>
          <a:xfrm>
            <a:off x="7955280" y="3017520"/>
            <a:ext cx="3200400" cy="45720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Verified locally</a:t>
            </a:r>
            <a:endParaRPr lang="en-US" sz="2300" dirty="0"/>
          </a:p>
        </p:txBody>
      </p:sp>
      <p:sp>
        <p:nvSpPr>
          <p:cNvPr id="16" name="Text 14"/>
          <p:cNvSpPr/>
          <p:nvPr/>
        </p:nvSpPr>
        <p:spPr>
          <a:xfrm>
            <a:off x="7955280" y="3657600"/>
            <a:ext cx="3200400" cy="1188720"/>
          </a:xfrm>
          <a:prstGeom prst="rect">
            <a:avLst/>
          </a:prstGeom>
          <a:noFill/>
          <a:ln/>
        </p:spPr>
        <p:txBody>
          <a:bodyPr wrap="square" lIns="0" tIns="0" rIns="0" bIns="0" rtlCol="0" anchor="ctr"/>
          <a:lstStyle/>
          <a:p>
            <a:pPr indent="0" marL="0">
              <a:buNone/>
            </a:pPr>
            <a:r>
              <a:rPr lang="en-US" sz="1900" dirty="0">
                <a:solidFill>
                  <a:srgbClr val="FFFFFF"/>
                </a:solidFill>
                <a:latin typeface="Arial" pitchFamily="34" charset="0"/>
                <a:ea typeface="Arial" pitchFamily="34" charset="-122"/>
                <a:cs typeface="Arial" pitchFamily="34" charset="-120"/>
              </a:rPr>
              <a:t>Chrome preview</a:t>
            </a:r>
            <a:endParaRPr lang="en-US" sz="1900" dirty="0"/>
          </a:p>
          <a:p>
            <a:pPr indent="0" marL="0">
              <a:buNone/>
            </a:pPr>
            <a:r>
              <a:rPr lang="en-US" sz="1900" dirty="0">
                <a:solidFill>
                  <a:srgbClr val="FFFFFF"/>
                </a:solidFill>
                <a:latin typeface="Arial" pitchFamily="34" charset="0"/>
                <a:ea typeface="Arial" pitchFamily="34" charset="-122"/>
                <a:cs typeface="Arial" pitchFamily="34" charset="-120"/>
              </a:rPr>
              <a:t>Widget and golden tests</a:t>
            </a:r>
            <a:endParaRPr lang="en-US" sz="1900" dirty="0"/>
          </a:p>
          <a:p>
            <a:pPr indent="0" marL="0">
              <a:buNone/>
            </a:pPr>
            <a:r>
              <a:rPr lang="en-US" sz="1900" dirty="0">
                <a:solidFill>
                  <a:srgbClr val="FFFFFF"/>
                </a:solidFill>
                <a:latin typeface="Arial" pitchFamily="34" charset="0"/>
                <a:ea typeface="Arial" pitchFamily="34" charset="-122"/>
                <a:cs typeface="Arial" pitchFamily="34" charset="-120"/>
              </a:rPr>
              <a:t>Android debug compilation</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Rescue Reports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Rescue Reports | User guide</dc:title>
  <dc:subject>Operating guide: resident, responder and staff workspaces</dc:subject>
  <dc:creator>Rescue Reports project</dc:creator>
  <cp:lastModifiedBy>Rescue Reports project</cp:lastModifiedBy>
  <cp:revision>1</cp:revision>
  <dcterms:created xsi:type="dcterms:W3CDTF">2026-10-24T17:05:24Z</dcterms:created>
  <dcterms:modified xsi:type="dcterms:W3CDTF">2026-10-24T17:05:24Z</dcterms:modified>
</cp:coreProperties>
</file>